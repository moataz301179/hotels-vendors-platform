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56" r:id="rId3"/>
    <p:sldId id="258" r:id="rId4"/>
    <p:sldId id="266" r:id="rId5"/>
    <p:sldId id="267" r:id="rId6"/>
    <p:sldId id="261" r:id="rId7"/>
    <p:sldId id="268" r:id="rId8"/>
    <p:sldId id="259" r:id="rId9"/>
    <p:sldId id="260" r:id="rId10"/>
    <p:sldId id="262" r:id="rId11"/>
    <p:sldId id="264" r:id="rId12"/>
    <p:sldId id="263"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43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941100"/>
    <a:srgbClr val="000000"/>
    <a:srgbClr val="880002"/>
    <a:srgbClr val="B9BBB4"/>
    <a:srgbClr val="0D0D0D"/>
    <a:srgbClr val="A2A4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68" autoAdjust="0"/>
    <p:restoredTop sz="94660"/>
  </p:normalViewPr>
  <p:slideViewPr>
    <p:cSldViewPr snapToGrid="0">
      <p:cViewPr varScale="1">
        <p:scale>
          <a:sx n="85" d="100"/>
          <a:sy n="85" d="100"/>
        </p:scale>
        <p:origin x="200" y="728"/>
      </p:cViewPr>
      <p:guideLst>
        <p:guide orient="horz" pos="2160"/>
        <p:guide pos="439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CE894-E89A-153D-485C-6FF24AAECE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E5ADE6-A015-FD70-A053-D77E5DCCA5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10FD23-C56D-B693-F99B-BD77AB6EE9B2}"/>
              </a:ext>
            </a:extLst>
          </p:cNvPr>
          <p:cNvSpPr>
            <a:spLocks noGrp="1"/>
          </p:cNvSpPr>
          <p:nvPr>
            <p:ph type="dt" sz="half" idx="10"/>
          </p:nvPr>
        </p:nvSpPr>
        <p:spPr/>
        <p:txBody>
          <a:bodyPr/>
          <a:lstStyle/>
          <a:p>
            <a:fld id="{8C71E163-D802-4D1D-BD2B-0D95B877167F}" type="datetimeFigureOut">
              <a:rPr lang="en-US" smtClean="0"/>
              <a:t>1/25/23</a:t>
            </a:fld>
            <a:endParaRPr lang="en-US"/>
          </a:p>
        </p:txBody>
      </p:sp>
      <p:sp>
        <p:nvSpPr>
          <p:cNvPr id="5" name="Footer Placeholder 4">
            <a:extLst>
              <a:ext uri="{FF2B5EF4-FFF2-40B4-BE49-F238E27FC236}">
                <a16:creationId xmlns:a16="http://schemas.microsoft.com/office/drawing/2014/main" id="{E008EC8F-1712-7E31-FE28-44019C2CC2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8E6B63-0A0E-6DF9-8FD7-20D981C2B1B0}"/>
              </a:ext>
            </a:extLst>
          </p:cNvPr>
          <p:cNvSpPr>
            <a:spLocks noGrp="1"/>
          </p:cNvSpPr>
          <p:nvPr>
            <p:ph type="sldNum" sz="quarter" idx="12"/>
          </p:nvPr>
        </p:nvSpPr>
        <p:spPr/>
        <p:txBody>
          <a:bodyPr/>
          <a:lstStyle/>
          <a:p>
            <a:fld id="{67453C91-B4B1-46D3-BA71-E947DC57AEB0}" type="slidenum">
              <a:rPr lang="en-US" smtClean="0"/>
              <a:t>‹#›</a:t>
            </a:fld>
            <a:endParaRPr lang="en-US"/>
          </a:p>
        </p:txBody>
      </p:sp>
    </p:spTree>
    <p:extLst>
      <p:ext uri="{BB962C8B-B14F-4D97-AF65-F5344CB8AC3E}">
        <p14:creationId xmlns:p14="http://schemas.microsoft.com/office/powerpoint/2010/main" val="1263739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AA3CB-7698-88D4-6755-893A7911E3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EA6BFF-2E03-2953-B6EE-4B2DAC02DC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AC5742-9C91-81AA-30E2-37CB62910B82}"/>
              </a:ext>
            </a:extLst>
          </p:cNvPr>
          <p:cNvSpPr>
            <a:spLocks noGrp="1"/>
          </p:cNvSpPr>
          <p:nvPr>
            <p:ph type="dt" sz="half" idx="10"/>
          </p:nvPr>
        </p:nvSpPr>
        <p:spPr/>
        <p:txBody>
          <a:bodyPr/>
          <a:lstStyle/>
          <a:p>
            <a:fld id="{8C71E163-D802-4D1D-BD2B-0D95B877167F}" type="datetimeFigureOut">
              <a:rPr lang="en-US" smtClean="0"/>
              <a:t>1/25/23</a:t>
            </a:fld>
            <a:endParaRPr lang="en-US"/>
          </a:p>
        </p:txBody>
      </p:sp>
      <p:sp>
        <p:nvSpPr>
          <p:cNvPr id="5" name="Footer Placeholder 4">
            <a:extLst>
              <a:ext uri="{FF2B5EF4-FFF2-40B4-BE49-F238E27FC236}">
                <a16:creationId xmlns:a16="http://schemas.microsoft.com/office/drawing/2014/main" id="{D9E162C9-0D56-BCED-C027-35792537CC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0A420B-7602-6606-A642-3EA709E5B037}"/>
              </a:ext>
            </a:extLst>
          </p:cNvPr>
          <p:cNvSpPr>
            <a:spLocks noGrp="1"/>
          </p:cNvSpPr>
          <p:nvPr>
            <p:ph type="sldNum" sz="quarter" idx="12"/>
          </p:nvPr>
        </p:nvSpPr>
        <p:spPr/>
        <p:txBody>
          <a:bodyPr/>
          <a:lstStyle/>
          <a:p>
            <a:fld id="{67453C91-B4B1-46D3-BA71-E947DC57AEB0}" type="slidenum">
              <a:rPr lang="en-US" smtClean="0"/>
              <a:t>‹#›</a:t>
            </a:fld>
            <a:endParaRPr lang="en-US"/>
          </a:p>
        </p:txBody>
      </p:sp>
    </p:spTree>
    <p:extLst>
      <p:ext uri="{BB962C8B-B14F-4D97-AF65-F5344CB8AC3E}">
        <p14:creationId xmlns:p14="http://schemas.microsoft.com/office/powerpoint/2010/main" val="29348855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3C372-5ED6-90B5-31F1-9AB6507A58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CDFEA3-6D75-1F31-E44C-393EAE9BBB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23BCDA-53F5-344B-48FF-FB3F974ADD2B}"/>
              </a:ext>
            </a:extLst>
          </p:cNvPr>
          <p:cNvSpPr>
            <a:spLocks noGrp="1"/>
          </p:cNvSpPr>
          <p:nvPr>
            <p:ph type="dt" sz="half" idx="10"/>
          </p:nvPr>
        </p:nvSpPr>
        <p:spPr/>
        <p:txBody>
          <a:bodyPr/>
          <a:lstStyle/>
          <a:p>
            <a:fld id="{8C71E163-D802-4D1D-BD2B-0D95B877167F}" type="datetimeFigureOut">
              <a:rPr lang="en-US" smtClean="0"/>
              <a:t>1/25/23</a:t>
            </a:fld>
            <a:endParaRPr lang="en-US"/>
          </a:p>
        </p:txBody>
      </p:sp>
      <p:sp>
        <p:nvSpPr>
          <p:cNvPr id="5" name="Footer Placeholder 4">
            <a:extLst>
              <a:ext uri="{FF2B5EF4-FFF2-40B4-BE49-F238E27FC236}">
                <a16:creationId xmlns:a16="http://schemas.microsoft.com/office/drawing/2014/main" id="{B4D3B808-B707-4FFF-A973-2B41352A4C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9E27B0-220E-397B-5E45-D5B70204B2FB}"/>
              </a:ext>
            </a:extLst>
          </p:cNvPr>
          <p:cNvSpPr>
            <a:spLocks noGrp="1"/>
          </p:cNvSpPr>
          <p:nvPr>
            <p:ph type="sldNum" sz="quarter" idx="12"/>
          </p:nvPr>
        </p:nvSpPr>
        <p:spPr/>
        <p:txBody>
          <a:bodyPr/>
          <a:lstStyle/>
          <a:p>
            <a:fld id="{67453C91-B4B1-46D3-BA71-E947DC57AEB0}" type="slidenum">
              <a:rPr lang="en-US" smtClean="0"/>
              <a:t>‹#›</a:t>
            </a:fld>
            <a:endParaRPr lang="en-US"/>
          </a:p>
        </p:txBody>
      </p:sp>
    </p:spTree>
    <p:extLst>
      <p:ext uri="{BB962C8B-B14F-4D97-AF65-F5344CB8AC3E}">
        <p14:creationId xmlns:p14="http://schemas.microsoft.com/office/powerpoint/2010/main" val="1889754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0EDCA-3D88-4D5D-D47D-1FDC17A39F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B83E4F-0046-67BC-EF5C-7FBBD309B5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665383-54E4-CB93-4DE2-AB34DB686F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B19051-29BC-9391-D26B-EC9102FBC1A3}"/>
              </a:ext>
            </a:extLst>
          </p:cNvPr>
          <p:cNvSpPr>
            <a:spLocks noGrp="1"/>
          </p:cNvSpPr>
          <p:nvPr>
            <p:ph type="dt" sz="half" idx="10"/>
          </p:nvPr>
        </p:nvSpPr>
        <p:spPr/>
        <p:txBody>
          <a:bodyPr/>
          <a:lstStyle/>
          <a:p>
            <a:fld id="{8C71E163-D802-4D1D-BD2B-0D95B877167F}" type="datetimeFigureOut">
              <a:rPr lang="en-US" smtClean="0"/>
              <a:t>1/25/23</a:t>
            </a:fld>
            <a:endParaRPr lang="en-US"/>
          </a:p>
        </p:txBody>
      </p:sp>
      <p:sp>
        <p:nvSpPr>
          <p:cNvPr id="6" name="Footer Placeholder 5">
            <a:extLst>
              <a:ext uri="{FF2B5EF4-FFF2-40B4-BE49-F238E27FC236}">
                <a16:creationId xmlns:a16="http://schemas.microsoft.com/office/drawing/2014/main" id="{A0886D52-DB96-7ED6-CFAF-3C8601A26E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1A6749-E7B1-FC46-6A80-E38BE9962170}"/>
              </a:ext>
            </a:extLst>
          </p:cNvPr>
          <p:cNvSpPr>
            <a:spLocks noGrp="1"/>
          </p:cNvSpPr>
          <p:nvPr>
            <p:ph type="sldNum" sz="quarter" idx="12"/>
          </p:nvPr>
        </p:nvSpPr>
        <p:spPr/>
        <p:txBody>
          <a:bodyPr/>
          <a:lstStyle/>
          <a:p>
            <a:fld id="{67453C91-B4B1-46D3-BA71-E947DC57AEB0}" type="slidenum">
              <a:rPr lang="en-US" smtClean="0"/>
              <a:t>‹#›</a:t>
            </a:fld>
            <a:endParaRPr lang="en-US"/>
          </a:p>
        </p:txBody>
      </p:sp>
    </p:spTree>
    <p:extLst>
      <p:ext uri="{BB962C8B-B14F-4D97-AF65-F5344CB8AC3E}">
        <p14:creationId xmlns:p14="http://schemas.microsoft.com/office/powerpoint/2010/main" val="3135163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56904-0FB2-6E4D-5C55-62BF0BD312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538F9E-FA91-4C15-5FAA-785A4572C4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CDA63D-B9E6-6D06-D01C-141493657E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C7051B-5132-45D5-279E-D1156BF3B2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400739-A1D5-8F63-9CC1-4958036112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454393-7631-1F23-F69A-2B7BEC5BE4D9}"/>
              </a:ext>
            </a:extLst>
          </p:cNvPr>
          <p:cNvSpPr>
            <a:spLocks noGrp="1"/>
          </p:cNvSpPr>
          <p:nvPr>
            <p:ph type="dt" sz="half" idx="10"/>
          </p:nvPr>
        </p:nvSpPr>
        <p:spPr/>
        <p:txBody>
          <a:bodyPr/>
          <a:lstStyle/>
          <a:p>
            <a:fld id="{8C71E163-D802-4D1D-BD2B-0D95B877167F}" type="datetimeFigureOut">
              <a:rPr lang="en-US" smtClean="0"/>
              <a:t>1/25/23</a:t>
            </a:fld>
            <a:endParaRPr lang="en-US"/>
          </a:p>
        </p:txBody>
      </p:sp>
      <p:sp>
        <p:nvSpPr>
          <p:cNvPr id="8" name="Footer Placeholder 7">
            <a:extLst>
              <a:ext uri="{FF2B5EF4-FFF2-40B4-BE49-F238E27FC236}">
                <a16:creationId xmlns:a16="http://schemas.microsoft.com/office/drawing/2014/main" id="{E81106A8-C8F6-5377-EDF3-D508865327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87403C-0091-FA16-E016-03D445E4DFFC}"/>
              </a:ext>
            </a:extLst>
          </p:cNvPr>
          <p:cNvSpPr>
            <a:spLocks noGrp="1"/>
          </p:cNvSpPr>
          <p:nvPr>
            <p:ph type="sldNum" sz="quarter" idx="12"/>
          </p:nvPr>
        </p:nvSpPr>
        <p:spPr/>
        <p:txBody>
          <a:bodyPr/>
          <a:lstStyle/>
          <a:p>
            <a:fld id="{67453C91-B4B1-46D3-BA71-E947DC57AEB0}" type="slidenum">
              <a:rPr lang="en-US" smtClean="0"/>
              <a:t>‹#›</a:t>
            </a:fld>
            <a:endParaRPr lang="en-US"/>
          </a:p>
        </p:txBody>
      </p:sp>
    </p:spTree>
    <p:extLst>
      <p:ext uri="{BB962C8B-B14F-4D97-AF65-F5344CB8AC3E}">
        <p14:creationId xmlns:p14="http://schemas.microsoft.com/office/powerpoint/2010/main" val="1524021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6C560-CF2F-5E02-D0D3-3E891ABA2C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6C99F7-CD61-9660-D236-A32B71D89934}"/>
              </a:ext>
            </a:extLst>
          </p:cNvPr>
          <p:cNvSpPr>
            <a:spLocks noGrp="1"/>
          </p:cNvSpPr>
          <p:nvPr>
            <p:ph type="dt" sz="half" idx="10"/>
          </p:nvPr>
        </p:nvSpPr>
        <p:spPr/>
        <p:txBody>
          <a:bodyPr/>
          <a:lstStyle/>
          <a:p>
            <a:fld id="{8C71E163-D802-4D1D-BD2B-0D95B877167F}" type="datetimeFigureOut">
              <a:rPr lang="en-US" smtClean="0"/>
              <a:t>1/25/23</a:t>
            </a:fld>
            <a:endParaRPr lang="en-US"/>
          </a:p>
        </p:txBody>
      </p:sp>
      <p:sp>
        <p:nvSpPr>
          <p:cNvPr id="4" name="Footer Placeholder 3">
            <a:extLst>
              <a:ext uri="{FF2B5EF4-FFF2-40B4-BE49-F238E27FC236}">
                <a16:creationId xmlns:a16="http://schemas.microsoft.com/office/drawing/2014/main" id="{19BE90AF-BBAF-71D1-6240-77D551CD98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F6E798-03C5-5EE9-8803-42BD306A66C1}"/>
              </a:ext>
            </a:extLst>
          </p:cNvPr>
          <p:cNvSpPr>
            <a:spLocks noGrp="1"/>
          </p:cNvSpPr>
          <p:nvPr>
            <p:ph type="sldNum" sz="quarter" idx="12"/>
          </p:nvPr>
        </p:nvSpPr>
        <p:spPr/>
        <p:txBody>
          <a:bodyPr/>
          <a:lstStyle/>
          <a:p>
            <a:fld id="{67453C91-B4B1-46D3-BA71-E947DC57AEB0}" type="slidenum">
              <a:rPr lang="en-US" smtClean="0"/>
              <a:t>‹#›</a:t>
            </a:fld>
            <a:endParaRPr lang="en-US"/>
          </a:p>
        </p:txBody>
      </p:sp>
    </p:spTree>
    <p:extLst>
      <p:ext uri="{BB962C8B-B14F-4D97-AF65-F5344CB8AC3E}">
        <p14:creationId xmlns:p14="http://schemas.microsoft.com/office/powerpoint/2010/main" val="18721682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C59E68-5894-A35B-8E87-2E9BA0567E91}"/>
              </a:ext>
            </a:extLst>
          </p:cNvPr>
          <p:cNvSpPr>
            <a:spLocks noGrp="1"/>
          </p:cNvSpPr>
          <p:nvPr>
            <p:ph type="dt" sz="half" idx="10"/>
          </p:nvPr>
        </p:nvSpPr>
        <p:spPr/>
        <p:txBody>
          <a:bodyPr/>
          <a:lstStyle/>
          <a:p>
            <a:fld id="{8C71E163-D802-4D1D-BD2B-0D95B877167F}" type="datetimeFigureOut">
              <a:rPr lang="en-US" smtClean="0"/>
              <a:t>1/25/23</a:t>
            </a:fld>
            <a:endParaRPr lang="en-US"/>
          </a:p>
        </p:txBody>
      </p:sp>
      <p:sp>
        <p:nvSpPr>
          <p:cNvPr id="3" name="Footer Placeholder 2">
            <a:extLst>
              <a:ext uri="{FF2B5EF4-FFF2-40B4-BE49-F238E27FC236}">
                <a16:creationId xmlns:a16="http://schemas.microsoft.com/office/drawing/2014/main" id="{AD669807-5EBD-50FA-E805-72A8E8E8FD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DF6504-A35C-FF42-E7D6-86F0650BF119}"/>
              </a:ext>
            </a:extLst>
          </p:cNvPr>
          <p:cNvSpPr>
            <a:spLocks noGrp="1"/>
          </p:cNvSpPr>
          <p:nvPr>
            <p:ph type="sldNum" sz="quarter" idx="12"/>
          </p:nvPr>
        </p:nvSpPr>
        <p:spPr/>
        <p:txBody>
          <a:bodyPr/>
          <a:lstStyle/>
          <a:p>
            <a:fld id="{67453C91-B4B1-46D3-BA71-E947DC57AEB0}" type="slidenum">
              <a:rPr lang="en-US" smtClean="0"/>
              <a:t>‹#›</a:t>
            </a:fld>
            <a:endParaRPr lang="en-US"/>
          </a:p>
        </p:txBody>
      </p:sp>
    </p:spTree>
    <p:extLst>
      <p:ext uri="{BB962C8B-B14F-4D97-AF65-F5344CB8AC3E}">
        <p14:creationId xmlns:p14="http://schemas.microsoft.com/office/powerpoint/2010/main" val="19277428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CDC0B-7A14-2098-6F50-09CC1D912A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D250A2-CC43-10C2-B05B-8BFD884D8B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5E1295-5082-4F21-7BF8-9E1E1F3E0B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1AC9EA-15FC-5755-CD88-F97759BDD32F}"/>
              </a:ext>
            </a:extLst>
          </p:cNvPr>
          <p:cNvSpPr>
            <a:spLocks noGrp="1"/>
          </p:cNvSpPr>
          <p:nvPr>
            <p:ph type="dt" sz="half" idx="10"/>
          </p:nvPr>
        </p:nvSpPr>
        <p:spPr/>
        <p:txBody>
          <a:bodyPr/>
          <a:lstStyle/>
          <a:p>
            <a:fld id="{8C71E163-D802-4D1D-BD2B-0D95B877167F}" type="datetimeFigureOut">
              <a:rPr lang="en-US" smtClean="0"/>
              <a:t>1/25/23</a:t>
            </a:fld>
            <a:endParaRPr lang="en-US"/>
          </a:p>
        </p:txBody>
      </p:sp>
      <p:sp>
        <p:nvSpPr>
          <p:cNvPr id="6" name="Footer Placeholder 5">
            <a:extLst>
              <a:ext uri="{FF2B5EF4-FFF2-40B4-BE49-F238E27FC236}">
                <a16:creationId xmlns:a16="http://schemas.microsoft.com/office/drawing/2014/main" id="{CEFF4CAF-FF03-0DCC-FA71-92A17F984F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E54E40-0108-02A3-EFAE-89C9BF792F87}"/>
              </a:ext>
            </a:extLst>
          </p:cNvPr>
          <p:cNvSpPr>
            <a:spLocks noGrp="1"/>
          </p:cNvSpPr>
          <p:nvPr>
            <p:ph type="sldNum" sz="quarter" idx="12"/>
          </p:nvPr>
        </p:nvSpPr>
        <p:spPr/>
        <p:txBody>
          <a:bodyPr/>
          <a:lstStyle/>
          <a:p>
            <a:fld id="{67453C91-B4B1-46D3-BA71-E947DC57AEB0}" type="slidenum">
              <a:rPr lang="en-US" smtClean="0"/>
              <a:t>‹#›</a:t>
            </a:fld>
            <a:endParaRPr lang="en-US"/>
          </a:p>
        </p:txBody>
      </p:sp>
    </p:spTree>
    <p:extLst>
      <p:ext uri="{BB962C8B-B14F-4D97-AF65-F5344CB8AC3E}">
        <p14:creationId xmlns:p14="http://schemas.microsoft.com/office/powerpoint/2010/main" val="236161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449FF-A489-345D-AA0A-0F98D47170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0023B9-E4B3-5062-5DB7-75D10FFAB6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3396B27-4076-672B-99D1-2D30A69AFB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E5A3FA-C9C7-A07F-56C6-3C4BD7ADB232}"/>
              </a:ext>
            </a:extLst>
          </p:cNvPr>
          <p:cNvSpPr>
            <a:spLocks noGrp="1"/>
          </p:cNvSpPr>
          <p:nvPr>
            <p:ph type="dt" sz="half" idx="10"/>
          </p:nvPr>
        </p:nvSpPr>
        <p:spPr/>
        <p:txBody>
          <a:bodyPr/>
          <a:lstStyle/>
          <a:p>
            <a:fld id="{8C71E163-D802-4D1D-BD2B-0D95B877167F}" type="datetimeFigureOut">
              <a:rPr lang="en-US" smtClean="0"/>
              <a:t>1/25/23</a:t>
            </a:fld>
            <a:endParaRPr lang="en-US"/>
          </a:p>
        </p:txBody>
      </p:sp>
      <p:sp>
        <p:nvSpPr>
          <p:cNvPr id="6" name="Footer Placeholder 5">
            <a:extLst>
              <a:ext uri="{FF2B5EF4-FFF2-40B4-BE49-F238E27FC236}">
                <a16:creationId xmlns:a16="http://schemas.microsoft.com/office/drawing/2014/main" id="{B9CD7319-A095-AAAE-5572-BD3238BA28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63F3A3-F4BD-1629-1191-8028D783BAC4}"/>
              </a:ext>
            </a:extLst>
          </p:cNvPr>
          <p:cNvSpPr>
            <a:spLocks noGrp="1"/>
          </p:cNvSpPr>
          <p:nvPr>
            <p:ph type="sldNum" sz="quarter" idx="12"/>
          </p:nvPr>
        </p:nvSpPr>
        <p:spPr/>
        <p:txBody>
          <a:bodyPr/>
          <a:lstStyle/>
          <a:p>
            <a:fld id="{67453C91-B4B1-46D3-BA71-E947DC57AEB0}" type="slidenum">
              <a:rPr lang="en-US" smtClean="0"/>
              <a:t>‹#›</a:t>
            </a:fld>
            <a:endParaRPr lang="en-US"/>
          </a:p>
        </p:txBody>
      </p:sp>
    </p:spTree>
    <p:extLst>
      <p:ext uri="{BB962C8B-B14F-4D97-AF65-F5344CB8AC3E}">
        <p14:creationId xmlns:p14="http://schemas.microsoft.com/office/powerpoint/2010/main" val="13683304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0A042-CC14-E834-D97C-CAC2824C81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CA0BE24-BF05-1D70-B8CE-5223893824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D75E74-5D42-3FB0-FA91-B4904A9BB42B}"/>
              </a:ext>
            </a:extLst>
          </p:cNvPr>
          <p:cNvSpPr>
            <a:spLocks noGrp="1"/>
          </p:cNvSpPr>
          <p:nvPr>
            <p:ph type="dt" sz="half" idx="10"/>
          </p:nvPr>
        </p:nvSpPr>
        <p:spPr/>
        <p:txBody>
          <a:bodyPr/>
          <a:lstStyle/>
          <a:p>
            <a:fld id="{8C71E163-D802-4D1D-BD2B-0D95B877167F}" type="datetimeFigureOut">
              <a:rPr lang="en-US" smtClean="0"/>
              <a:t>1/25/23</a:t>
            </a:fld>
            <a:endParaRPr lang="en-US"/>
          </a:p>
        </p:txBody>
      </p:sp>
      <p:sp>
        <p:nvSpPr>
          <p:cNvPr id="5" name="Footer Placeholder 4">
            <a:extLst>
              <a:ext uri="{FF2B5EF4-FFF2-40B4-BE49-F238E27FC236}">
                <a16:creationId xmlns:a16="http://schemas.microsoft.com/office/drawing/2014/main" id="{4281DC24-20AD-A8A8-F4A6-44D5114D7D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0D749C-F759-8D9B-D5BF-2DB8CFCA8D19}"/>
              </a:ext>
            </a:extLst>
          </p:cNvPr>
          <p:cNvSpPr>
            <a:spLocks noGrp="1"/>
          </p:cNvSpPr>
          <p:nvPr>
            <p:ph type="sldNum" sz="quarter" idx="12"/>
          </p:nvPr>
        </p:nvSpPr>
        <p:spPr/>
        <p:txBody>
          <a:bodyPr/>
          <a:lstStyle/>
          <a:p>
            <a:fld id="{67453C91-B4B1-46D3-BA71-E947DC57AEB0}" type="slidenum">
              <a:rPr lang="en-US" smtClean="0"/>
              <a:t>‹#›</a:t>
            </a:fld>
            <a:endParaRPr lang="en-US"/>
          </a:p>
        </p:txBody>
      </p:sp>
    </p:spTree>
    <p:extLst>
      <p:ext uri="{BB962C8B-B14F-4D97-AF65-F5344CB8AC3E}">
        <p14:creationId xmlns:p14="http://schemas.microsoft.com/office/powerpoint/2010/main" val="19451025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98DFFE-2FF5-751F-ACE0-FEFE4F668F4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6BDA4B-26EF-C13C-7438-70999FF87B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838935-2247-FFF1-2ABF-A341E5A157F7}"/>
              </a:ext>
            </a:extLst>
          </p:cNvPr>
          <p:cNvSpPr>
            <a:spLocks noGrp="1"/>
          </p:cNvSpPr>
          <p:nvPr>
            <p:ph type="dt" sz="half" idx="10"/>
          </p:nvPr>
        </p:nvSpPr>
        <p:spPr/>
        <p:txBody>
          <a:bodyPr/>
          <a:lstStyle/>
          <a:p>
            <a:fld id="{8C71E163-D802-4D1D-BD2B-0D95B877167F}" type="datetimeFigureOut">
              <a:rPr lang="en-US" smtClean="0"/>
              <a:t>1/25/23</a:t>
            </a:fld>
            <a:endParaRPr lang="en-US"/>
          </a:p>
        </p:txBody>
      </p:sp>
      <p:sp>
        <p:nvSpPr>
          <p:cNvPr id="5" name="Footer Placeholder 4">
            <a:extLst>
              <a:ext uri="{FF2B5EF4-FFF2-40B4-BE49-F238E27FC236}">
                <a16:creationId xmlns:a16="http://schemas.microsoft.com/office/drawing/2014/main" id="{BCB02EFD-263A-28D0-1849-E48D79A04B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853773-A9E3-5BE3-E77A-EA557774F47A}"/>
              </a:ext>
            </a:extLst>
          </p:cNvPr>
          <p:cNvSpPr>
            <a:spLocks noGrp="1"/>
          </p:cNvSpPr>
          <p:nvPr>
            <p:ph type="sldNum" sz="quarter" idx="12"/>
          </p:nvPr>
        </p:nvSpPr>
        <p:spPr/>
        <p:txBody>
          <a:bodyPr/>
          <a:lstStyle/>
          <a:p>
            <a:fld id="{67453C91-B4B1-46D3-BA71-E947DC57AEB0}" type="slidenum">
              <a:rPr lang="en-US" smtClean="0"/>
              <a:t>‹#›</a:t>
            </a:fld>
            <a:endParaRPr lang="en-US"/>
          </a:p>
        </p:txBody>
      </p:sp>
    </p:spTree>
    <p:extLst>
      <p:ext uri="{BB962C8B-B14F-4D97-AF65-F5344CB8AC3E}">
        <p14:creationId xmlns:p14="http://schemas.microsoft.com/office/powerpoint/2010/main" val="3083922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50000"/>
            <a:alpha val="90188"/>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9DA1FF-1D12-4666-421D-F23360CF2A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4660279-32B1-78C6-4D2B-DDB4ECC2A4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67D670-869F-6F0D-C1EB-0796C96068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71E163-D802-4D1D-BD2B-0D95B877167F}" type="datetimeFigureOut">
              <a:rPr lang="en-US" smtClean="0"/>
              <a:t>1/25/23</a:t>
            </a:fld>
            <a:endParaRPr lang="en-US"/>
          </a:p>
        </p:txBody>
      </p:sp>
      <p:sp>
        <p:nvSpPr>
          <p:cNvPr id="5" name="Footer Placeholder 4">
            <a:extLst>
              <a:ext uri="{FF2B5EF4-FFF2-40B4-BE49-F238E27FC236}">
                <a16:creationId xmlns:a16="http://schemas.microsoft.com/office/drawing/2014/main" id="{8689B502-7C98-B991-F739-B7E8A5441B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3D23433-B424-549B-3415-389B7F039A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453C91-B4B1-46D3-BA71-E947DC57AEB0}" type="slidenum">
              <a:rPr lang="en-US" smtClean="0"/>
              <a:t>‹#›</a:t>
            </a:fld>
            <a:endParaRPr lang="en-US"/>
          </a:p>
        </p:txBody>
      </p:sp>
    </p:spTree>
    <p:extLst>
      <p:ext uri="{BB962C8B-B14F-4D97-AF65-F5344CB8AC3E}">
        <p14:creationId xmlns:p14="http://schemas.microsoft.com/office/powerpoint/2010/main" val="12288092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2.wdp"/><Relationship Id="rId3" Type="http://schemas.microsoft.com/office/2007/relationships/hdphoto" Target="../media/hdphoto1.wdp"/><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niknaksoldpeculiarblog.blogspot.com/2016_05_01_archive.html" TargetMode="External"/><Relationship Id="rId5" Type="http://schemas.openxmlformats.org/officeDocument/2006/relationships/image" Target="../media/image2.jpg"/><Relationship Id="rId4" Type="http://schemas.openxmlformats.org/officeDocument/2006/relationships/hyperlink" Target="https://scherlund.blogspot.com/2018/05/12-tricky-math-riddles-only-smartest.html"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pxhere.com/es/photo/1435019" TargetMode="External"/><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4.xml"/><Relationship Id="rId6" Type="http://schemas.microsoft.com/office/2007/relationships/hdphoto" Target="../media/hdphoto4.wdp"/><Relationship Id="rId5" Type="http://schemas.openxmlformats.org/officeDocument/2006/relationships/image" Target="../media/image8.png"/><Relationship Id="rId4" Type="http://schemas.openxmlformats.org/officeDocument/2006/relationships/hyperlink" Target="https://pixabay.com/en/solution-problem-analysis-red-2480514/"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C4C8B7-8146-4D16-8C37-0613D0C267C4}"/>
              </a:ext>
            </a:extLst>
          </p:cNvPr>
          <p:cNvSpPr>
            <a:spLocks noGrp="1"/>
          </p:cNvSpPr>
          <p:nvPr>
            <p:ph idx="1"/>
          </p:nvPr>
        </p:nvSpPr>
        <p:spPr>
          <a:xfrm>
            <a:off x="45571" y="678645"/>
            <a:ext cx="11342134" cy="6185737"/>
          </a:xfrm>
          <a:solidFill>
            <a:schemeClr val="tx2"/>
          </a:solidFill>
          <a:ln w="57150">
            <a:noFill/>
          </a:ln>
          <a:effectLst>
            <a:glow rad="127000">
              <a:schemeClr val="accent1">
                <a:alpha val="0"/>
              </a:schemeClr>
            </a:glow>
          </a:effectLst>
        </p:spPr>
        <p:txBody>
          <a:bodyPr anchor="ctr" anchorCtr="1">
            <a:normAutofit/>
          </a:bodyPr>
          <a:lstStyle/>
          <a:p>
            <a:pPr>
              <a:lnSpc>
                <a:spcPct val="100000"/>
              </a:lnSpc>
            </a:pPr>
            <a:endParaRPr lang="en-GB" b="0" i="0" u="none" strike="noStrike" dirty="0">
              <a:solidFill>
                <a:schemeClr val="bg1"/>
              </a:solidFill>
              <a:effectLst/>
              <a:latin typeface="Microsoft Sans Serif" panose="020B0604020202020204" pitchFamily="34" charset="0"/>
              <a:cs typeface="Microsoft Sans Serif" panose="020B0604020202020204" pitchFamily="34" charset="0"/>
            </a:endParaRPr>
          </a:p>
          <a:p>
            <a:pPr marL="0" indent="0">
              <a:lnSpc>
                <a:spcPct val="100000"/>
              </a:lnSpc>
              <a:buNone/>
            </a:pPr>
            <a:r>
              <a:rPr lang="en-GB" b="0" i="0" u="none" strike="noStrike" dirty="0">
                <a:solidFill>
                  <a:schemeClr val="bg1"/>
                </a:solidFill>
                <a:effectLst/>
                <a:latin typeface="Microsoft Sans Serif" panose="020B0604020202020204" pitchFamily="34" charset="0"/>
                <a:cs typeface="Microsoft Sans Serif" panose="020B0604020202020204" pitchFamily="34" charset="0"/>
              </a:rPr>
              <a:t>I am thrilled to introduce you to the market leader in multivendor platforms. Our platform is designed to revolutionize the way businesses sell and consumers buy, making it easier and more efficient than ever before. Get ready to be amazed by the features and capabilities of our platform, and learn how it can help your business grow. Trust me, you don't want to miss this!"</a:t>
            </a:r>
            <a:endParaRPr lang="en-RU" b="1" dirty="0">
              <a:solidFill>
                <a:schemeClr val="bg1"/>
              </a:solidFill>
              <a:latin typeface="Microsoft Sans Serif" panose="020B0604020202020204" pitchFamily="34" charset="0"/>
              <a:cs typeface="Microsoft Sans Serif" panose="020B0604020202020204" pitchFamily="34" charset="0"/>
            </a:endParaRPr>
          </a:p>
        </p:txBody>
      </p:sp>
      <p:sp>
        <p:nvSpPr>
          <p:cNvPr id="2" name="Title 1">
            <a:extLst>
              <a:ext uri="{FF2B5EF4-FFF2-40B4-BE49-F238E27FC236}">
                <a16:creationId xmlns:a16="http://schemas.microsoft.com/office/drawing/2014/main" id="{81DEB678-2571-5661-121D-7012EB06C0EF}"/>
              </a:ext>
            </a:extLst>
          </p:cNvPr>
          <p:cNvSpPr>
            <a:spLocks noGrp="1"/>
          </p:cNvSpPr>
          <p:nvPr>
            <p:ph type="title"/>
          </p:nvPr>
        </p:nvSpPr>
        <p:spPr>
          <a:xfrm>
            <a:off x="-88046" y="12745"/>
            <a:ext cx="11342134" cy="1884382"/>
          </a:xfrm>
          <a:ln w="76200">
            <a:noFill/>
          </a:ln>
        </p:spPr>
        <p:txBody>
          <a:bodyPr/>
          <a:lstStyle/>
          <a:p>
            <a:pPr algn="ctr">
              <a:lnSpc>
                <a:spcPct val="100000"/>
              </a:lnSpc>
            </a:pPr>
            <a:r>
              <a:rPr lang="en-RU" dirty="0">
                <a:solidFill>
                  <a:schemeClr val="bg1"/>
                </a:solidFill>
                <a:latin typeface="Goudy Old Style" panose="02020502050305020303" pitchFamily="18" charset="77"/>
              </a:rPr>
              <a:t>PRESENTATION</a:t>
            </a:r>
          </a:p>
        </p:txBody>
      </p:sp>
      <p:pic>
        <p:nvPicPr>
          <p:cNvPr id="13" name="Picture 12">
            <a:extLst>
              <a:ext uri="{FF2B5EF4-FFF2-40B4-BE49-F238E27FC236}">
                <a16:creationId xmlns:a16="http://schemas.microsoft.com/office/drawing/2014/main" id="{EE1F3870-1703-28AB-F159-AA101F351AB2}"/>
              </a:ext>
            </a:extLst>
          </p:cNvPr>
          <p:cNvPicPr>
            <a:picLocks noChangeAspect="1"/>
          </p:cNvPicPr>
          <p:nvPr/>
        </p:nvPicPr>
        <p:blipFill>
          <a:blip r:embed="rId2">
            <a:alphaModFix amt="0"/>
            <a:biLevel thresh="75000"/>
            <a:extLst>
              <a:ext uri="{BEBA8EAE-BF5A-486C-A8C5-ECC9F3942E4B}">
                <a14:imgProps xmlns:a14="http://schemas.microsoft.com/office/drawing/2010/main">
                  <a14:imgLayer r:embed="rId3">
                    <a14:imgEffect>
                      <a14:colorTemperature colorTemp="5254"/>
                    </a14:imgEffect>
                    <a14:imgEffect>
                      <a14:saturation sat="27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025938" y="-1075006"/>
            <a:ext cx="9305574" cy="4707625"/>
          </a:xfrm>
          <a:prstGeom prst="rect">
            <a:avLst/>
          </a:prstGeom>
          <a:effectLst>
            <a:glow>
              <a:schemeClr val="accent1">
                <a:alpha val="30000"/>
              </a:schemeClr>
            </a:glow>
          </a:effectLst>
          <a:scene3d>
            <a:camera prst="orthographicFront"/>
            <a:lightRig rig="threePt" dir="t"/>
          </a:scene3d>
          <a:sp3d prstMaterial="plastic"/>
        </p:spPr>
      </p:pic>
      <p:pic>
        <p:nvPicPr>
          <p:cNvPr id="5" name="Picture 4">
            <a:extLst>
              <a:ext uri="{FF2B5EF4-FFF2-40B4-BE49-F238E27FC236}">
                <a16:creationId xmlns:a16="http://schemas.microsoft.com/office/drawing/2014/main" id="{F95C56E9-6C8E-D58E-2451-C14DC425550C}"/>
              </a:ext>
            </a:extLst>
          </p:cNvPr>
          <p:cNvPicPr>
            <a:picLocks noChangeAspect="1"/>
          </p:cNvPicPr>
          <p:nvPr/>
        </p:nvPicPr>
        <p:blipFill>
          <a:blip r:embed="rId5">
            <a:alphaModFix amt="18000"/>
            <a:biLevel thresh="75000"/>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353058" y="1157513"/>
            <a:ext cx="10198062" cy="1679940"/>
          </a:xfrm>
          <a:prstGeom prst="rect">
            <a:avLst/>
          </a:prstGeom>
        </p:spPr>
      </p:pic>
      <p:pic>
        <p:nvPicPr>
          <p:cNvPr id="11" name="Picture 10">
            <a:extLst>
              <a:ext uri="{FF2B5EF4-FFF2-40B4-BE49-F238E27FC236}">
                <a16:creationId xmlns:a16="http://schemas.microsoft.com/office/drawing/2014/main" id="{863CD293-0832-0A71-2E5E-9C5545AE9957}"/>
              </a:ext>
            </a:extLst>
          </p:cNvPr>
          <p:cNvPicPr>
            <a:picLocks noChangeAspect="1"/>
          </p:cNvPicPr>
          <p:nvPr/>
        </p:nvPicPr>
        <p:blipFill>
          <a:blip r:embed="rId7">
            <a:duotone>
              <a:schemeClr val="accent1">
                <a:shade val="45000"/>
                <a:satMod val="135000"/>
              </a:schemeClr>
              <a:prstClr val="white"/>
            </a:duotone>
            <a:alphaModFix amt="17000"/>
            <a:extLst>
              <a:ext uri="{BEBA8EAE-BF5A-486C-A8C5-ECC9F3942E4B}">
                <a14:imgProps xmlns:a14="http://schemas.microsoft.com/office/drawing/2010/main">
                  <a14:imgLayer r:embed="rId8">
                    <a14:imgEffect>
                      <a14:colorTemperature colorTemp="6348"/>
                    </a14:imgEffect>
                    <a14:imgEffect>
                      <a14:saturation sat="149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36595" y="1971617"/>
            <a:ext cx="5446426" cy="3456373"/>
          </a:xfrm>
          <a:prstGeom prst="rect">
            <a:avLst/>
          </a:prstGeom>
          <a:effectLst>
            <a:glow>
              <a:schemeClr val="accent1">
                <a:alpha val="30000"/>
              </a:schemeClr>
            </a:glow>
          </a:effectLst>
          <a:scene3d>
            <a:camera prst="orthographicFront"/>
            <a:lightRig rig="threePt" dir="t"/>
          </a:scene3d>
          <a:sp3d prstMaterial="plastic"/>
        </p:spPr>
      </p:pic>
    </p:spTree>
    <p:extLst>
      <p:ext uri="{BB962C8B-B14F-4D97-AF65-F5344CB8AC3E}">
        <p14:creationId xmlns:p14="http://schemas.microsoft.com/office/powerpoint/2010/main" val="3531624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3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mph" presetSubtype="2" fill="hold" nodeType="clickEffect">
                                  <p:stCondLst>
                                    <p:cond delay="0"/>
                                  </p:stCondLst>
                                  <p:childTnLst>
                                    <p:animClr clrSpc="rgb" dir="cw">
                                      <p:cBhvr>
                                        <p:cTn id="16" dur="3000" fill="hold"/>
                                        <p:tgtEl>
                                          <p:spTgt spid="11"/>
                                        </p:tgtEl>
                                        <p:attrNameLst>
                                          <p:attrName>fillcolor</p:attrName>
                                        </p:attrNameLst>
                                      </p:cBhvr>
                                      <p:to>
                                        <a:schemeClr val="accent2"/>
                                      </p:to>
                                    </p:animClr>
                                    <p:set>
                                      <p:cBhvr>
                                        <p:cTn id="17" dur="3000" fill="hold"/>
                                        <p:tgtEl>
                                          <p:spTgt spid="11"/>
                                        </p:tgtEl>
                                        <p:attrNameLst>
                                          <p:attrName>fill.type</p:attrName>
                                        </p:attrNameLst>
                                      </p:cBhvr>
                                      <p:to>
                                        <p:strVal val="solid"/>
                                      </p:to>
                                    </p:set>
                                    <p:set>
                                      <p:cBhvr>
                                        <p:cTn id="18" dur="3000" fill="hold"/>
                                        <p:tgtEl>
                                          <p:spTgt spid="1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78754"/>
          </a:schemeClr>
        </a:solidFill>
        <a:effectLst/>
      </p:bgPr>
    </p:bg>
    <p:spTree>
      <p:nvGrpSpPr>
        <p:cNvPr id="1" name=""/>
        <p:cNvGrpSpPr/>
        <p:nvPr/>
      </p:nvGrpSpPr>
      <p:grpSpPr>
        <a:xfrm>
          <a:off x="0" y="0"/>
          <a:ext cx="0" cy="0"/>
          <a:chOff x="0" y="0"/>
          <a:chExt cx="0" cy="0"/>
        </a:xfrm>
      </p:grpSpPr>
      <p:pic>
        <p:nvPicPr>
          <p:cNvPr id="3" name="Image">
            <a:extLst>
              <a:ext uri="{FF2B5EF4-FFF2-40B4-BE49-F238E27FC236}">
                <a16:creationId xmlns:a16="http://schemas.microsoft.com/office/drawing/2014/main" id="{A9953D0A-F9EB-7079-8818-3D19555143AC}"/>
              </a:ext>
            </a:extLst>
          </p:cNvPr>
          <p:cNvPicPr>
            <a:picLocks noChangeAspect="1"/>
          </p:cNvPicPr>
          <p:nvPr/>
        </p:nvPicPr>
        <p:blipFill>
          <a:blip r:embed="rId2">
            <a:extLst>
              <a:ext uri="{28A0092B-C50C-407E-A947-70E740481C1C}">
                <a14:useLocalDpi xmlns:a14="http://schemas.microsoft.com/office/drawing/2010/main" val="0"/>
              </a:ext>
            </a:extLst>
          </a:blip>
          <a:srcRect t="1758" b="1758"/>
          <a:stretch/>
        </p:blipFill>
        <p:spPr>
          <a:xfrm>
            <a:off x="4492051" y="1029197"/>
            <a:ext cx="3327817" cy="3123076"/>
          </a:xfrm>
          <a:prstGeom prst="rect">
            <a:avLst/>
          </a:prstGeom>
          <a:ln w="57150">
            <a:solidFill>
              <a:srgbClr val="D9D9D9"/>
            </a:solidFill>
          </a:ln>
          <a:effectLst>
            <a:glow rad="63500">
              <a:schemeClr val="accent3">
                <a:satMod val="175000"/>
                <a:alpha val="40000"/>
              </a:schemeClr>
            </a:glow>
          </a:effectLst>
          <a:scene3d>
            <a:camera prst="orthographicFront"/>
            <a:lightRig rig="threePt" dir="t"/>
          </a:scene3d>
          <a:sp3d>
            <a:bevelT w="139700" h="139700" prst="divot"/>
            <a:bevelB w="114300" prst="hardEdge"/>
          </a:sp3d>
        </p:spPr>
        <p:style>
          <a:lnRef idx="3">
            <a:schemeClr val="lt1"/>
          </a:lnRef>
          <a:fillRef idx="1">
            <a:schemeClr val="accent3"/>
          </a:fillRef>
          <a:effectRef idx="1">
            <a:schemeClr val="accent3"/>
          </a:effectRef>
          <a:fontRef idx="minor">
            <a:schemeClr val="lt1"/>
          </a:fontRef>
        </p:style>
      </p:pic>
      <p:sp>
        <p:nvSpPr>
          <p:cNvPr id="8" name="TextBox 7">
            <a:extLst>
              <a:ext uri="{FF2B5EF4-FFF2-40B4-BE49-F238E27FC236}">
                <a16:creationId xmlns:a16="http://schemas.microsoft.com/office/drawing/2014/main" id="{247F7E95-2868-0911-5ABA-A40136D94D47}"/>
              </a:ext>
            </a:extLst>
          </p:cNvPr>
          <p:cNvSpPr txBox="1"/>
          <p:nvPr/>
        </p:nvSpPr>
        <p:spPr>
          <a:xfrm>
            <a:off x="1034320" y="4414355"/>
            <a:ext cx="10133350" cy="769441"/>
          </a:xfrm>
          <a:prstGeom prst="rect">
            <a:avLst/>
          </a:prstGeom>
          <a:solidFill>
            <a:schemeClr val="accent1">
              <a:alpha val="4000"/>
            </a:schemeClr>
          </a:solidFill>
          <a:ln cap="rnd">
            <a:noFill/>
          </a:ln>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sz="4400" b="1" dirty="0">
                <a:solidFill>
                  <a:srgbClr val="880002"/>
                </a:solidFill>
                <a:latin typeface="Microsoft Sans Serif" panose="020B0604020202020204" pitchFamily="34" charset="0"/>
                <a:cs typeface="Microsoft Sans Serif" panose="020B0604020202020204" pitchFamily="34" charset="0"/>
              </a:rPr>
              <a:t>HOTELS VENDORS</a:t>
            </a:r>
          </a:p>
        </p:txBody>
      </p:sp>
      <p:sp>
        <p:nvSpPr>
          <p:cNvPr id="11" name="TextBox 10">
            <a:extLst>
              <a:ext uri="{FF2B5EF4-FFF2-40B4-BE49-F238E27FC236}">
                <a16:creationId xmlns:a16="http://schemas.microsoft.com/office/drawing/2014/main" id="{3D2C135A-8BD6-1892-CB3D-F0E6B4021DB3}"/>
              </a:ext>
            </a:extLst>
          </p:cNvPr>
          <p:cNvSpPr txBox="1"/>
          <p:nvPr/>
        </p:nvSpPr>
        <p:spPr>
          <a:xfrm>
            <a:off x="3010523" y="5132841"/>
            <a:ext cx="6390807" cy="338554"/>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600" b="1" dirty="0">
                <a:solidFill>
                  <a:srgbClr val="880002"/>
                </a:solidFill>
                <a:latin typeface="Microsoft Sans Serif" panose="020B0604020202020204" pitchFamily="34" charset="0"/>
                <a:cs typeface="Microsoft Sans Serif" panose="020B0604020202020204" pitchFamily="34" charset="0"/>
              </a:rPr>
              <a:t>Smarter Together</a:t>
            </a:r>
          </a:p>
        </p:txBody>
      </p:sp>
    </p:spTree>
    <p:extLst>
      <p:ext uri="{BB962C8B-B14F-4D97-AF65-F5344CB8AC3E}">
        <p14:creationId xmlns:p14="http://schemas.microsoft.com/office/powerpoint/2010/main" val="3765269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BE2485-5A3C-29BA-6F84-EF34E3FDF60B}"/>
              </a:ext>
            </a:extLst>
          </p:cNvPr>
          <p:cNvPicPr>
            <a:picLocks noChangeAspect="1"/>
          </p:cNvPicPr>
          <p:nvPr/>
        </p:nvPicPr>
        <p:blipFill>
          <a:blip r:embed="rId2">
            <a:alphaModFix amt="35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13633"/>
            <a:ext cx="12357974" cy="6685613"/>
          </a:xfrm>
          <a:prstGeom prst="rect">
            <a:avLst/>
          </a:prstGeom>
        </p:spPr>
      </p:pic>
      <p:sp>
        <p:nvSpPr>
          <p:cNvPr id="19" name="TextBox 18">
            <a:extLst>
              <a:ext uri="{FF2B5EF4-FFF2-40B4-BE49-F238E27FC236}">
                <a16:creationId xmlns:a16="http://schemas.microsoft.com/office/drawing/2014/main" id="{DAADAF07-2465-1FE8-F481-27B6B399665D}"/>
              </a:ext>
            </a:extLst>
          </p:cNvPr>
          <p:cNvSpPr txBox="1"/>
          <p:nvPr/>
        </p:nvSpPr>
        <p:spPr>
          <a:xfrm>
            <a:off x="657673" y="429101"/>
            <a:ext cx="4244111" cy="1326105"/>
          </a:xfrm>
          <a:prstGeom prst="rect">
            <a:avLst/>
          </a:prstGeom>
          <a:noFill/>
          <a:ln w="7620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tIns="180000" rIns="36000" bIns="0" rtlCol="0" anchor="b" anchorCtr="1">
            <a:spAutoFit/>
          </a:bodyPr>
          <a:lstStyle/>
          <a:p>
            <a:pPr algn="just"/>
            <a:r>
              <a:rPr lang="en-US" sz="3600" i="0" dirty="0">
                <a:solidFill>
                  <a:schemeClr val="bg1"/>
                </a:solidFill>
                <a:effectLst/>
                <a:highlight>
                  <a:srgbClr val="800000"/>
                </a:highlight>
                <a:latin typeface="Microsoft Sans Serif" panose="020B0604020202020204" pitchFamily="34" charset="0"/>
                <a:cs typeface="Microsoft Sans Serif" panose="020B0604020202020204" pitchFamily="34" charset="0"/>
              </a:rPr>
              <a:t>Value As A Service</a:t>
            </a:r>
          </a:p>
          <a:p>
            <a:pPr algn="just"/>
            <a:endParaRPr lang="en-EG" sz="3600" dirty="0">
              <a:solidFill>
                <a:schemeClr val="bg1"/>
              </a:solidFill>
              <a:latin typeface="Microsoft Sans Serif" panose="020B0604020202020204" pitchFamily="34" charset="0"/>
              <a:cs typeface="Microsoft Sans Serif" panose="020B0604020202020204" pitchFamily="34" charset="0"/>
            </a:endParaRPr>
          </a:p>
        </p:txBody>
      </p:sp>
      <p:sp>
        <p:nvSpPr>
          <p:cNvPr id="21" name="TextBox 20">
            <a:extLst>
              <a:ext uri="{FF2B5EF4-FFF2-40B4-BE49-F238E27FC236}">
                <a16:creationId xmlns:a16="http://schemas.microsoft.com/office/drawing/2014/main" id="{60DA04BA-854A-A37A-7DDD-C4228C69BBA1}"/>
              </a:ext>
            </a:extLst>
          </p:cNvPr>
          <p:cNvSpPr txBox="1"/>
          <p:nvPr/>
        </p:nvSpPr>
        <p:spPr>
          <a:xfrm>
            <a:off x="657673" y="1867696"/>
            <a:ext cx="10458450" cy="4188967"/>
          </a:xfrm>
          <a:prstGeom prst="rect">
            <a:avLst/>
          </a:prstGeom>
          <a:noFill/>
        </p:spPr>
        <p:txBody>
          <a:bodyPr wrap="square">
            <a:spAutoFit/>
          </a:bodyPr>
          <a:lstStyle/>
          <a:p>
            <a:pPr>
              <a:lnSpc>
                <a:spcPct val="150000"/>
              </a:lnSpc>
            </a:pPr>
            <a:r>
              <a:rPr lang="en-GB" sz="2000" b="0" i="0" strike="noStrike" dirty="0">
                <a:solidFill>
                  <a:schemeClr val="bg1"/>
                </a:solidFill>
                <a:effectLst/>
                <a:latin typeface="Microsoft Sans Serif" panose="020B0604020202020204" pitchFamily="34" charset="0"/>
                <a:cs typeface="Microsoft Sans Serif" panose="020B0604020202020204" pitchFamily="34" charset="0"/>
              </a:rPr>
              <a:t>"As a former financial auditor and business analyst, I have always been fascinated by the inner workings of the hospitality industry. Through my experience, I noticed that many hotels were struggling with their procurement process, facing high costs and inefficiencies. I knew there had to be a better way. That's why I founded Hotels Vendors, a multivendor platform designed to streamline the procurement process for hotels. Our platform leverages my background in financial audit and business analysis to bring transparency and efficiency to the purchasing process, resulting in significant cost savings for our clients. We are committed to helping hotels succeed by providing them with the tools they need to optimize their purchasing process and stay competitive in today's economy.”</a:t>
            </a:r>
            <a:endParaRPr lang="en-EG" sz="2000" dirty="0">
              <a:solidFill>
                <a:schemeClr val="bg1"/>
              </a:solidFill>
              <a:latin typeface="Microsoft Sans Serif" panose="020B0604020202020204" pitchFamily="34" charset="0"/>
              <a:cs typeface="Microsoft Sans Serif" panose="020B0604020202020204" pitchFamily="34" charset="0"/>
            </a:endParaRPr>
          </a:p>
        </p:txBody>
      </p:sp>
      <p:sp>
        <p:nvSpPr>
          <p:cNvPr id="24" name="TextBox 23">
            <a:extLst>
              <a:ext uri="{FF2B5EF4-FFF2-40B4-BE49-F238E27FC236}">
                <a16:creationId xmlns:a16="http://schemas.microsoft.com/office/drawing/2014/main" id="{F7AB1B4B-7128-DAA0-3F25-A6C4F1ABD749}"/>
              </a:ext>
            </a:extLst>
          </p:cNvPr>
          <p:cNvSpPr txBox="1"/>
          <p:nvPr/>
        </p:nvSpPr>
        <p:spPr>
          <a:xfrm>
            <a:off x="9268031" y="5843466"/>
            <a:ext cx="1639488" cy="400110"/>
          </a:xfrm>
          <a:prstGeom prst="rect">
            <a:avLst/>
          </a:prstGeom>
          <a:noFill/>
        </p:spPr>
        <p:txBody>
          <a:bodyPr wrap="none" rtlCol="0">
            <a:spAutoFit/>
          </a:bodyPr>
          <a:lstStyle/>
          <a:p>
            <a:r>
              <a:rPr lang="en-US" sz="2000" dirty="0">
                <a:solidFill>
                  <a:srgbClr val="002060"/>
                </a:solidFill>
              </a:rPr>
              <a:t>Moataz Ghani</a:t>
            </a:r>
            <a:endParaRPr lang="en-EG" sz="2000" dirty="0">
              <a:solidFill>
                <a:srgbClr val="002060"/>
              </a:solidFill>
            </a:endParaRPr>
          </a:p>
        </p:txBody>
      </p:sp>
      <p:sp>
        <p:nvSpPr>
          <p:cNvPr id="25" name="TextBox 24">
            <a:extLst>
              <a:ext uri="{FF2B5EF4-FFF2-40B4-BE49-F238E27FC236}">
                <a16:creationId xmlns:a16="http://schemas.microsoft.com/office/drawing/2014/main" id="{EDCBD7E5-C6C3-B907-9936-8A4002837DF8}"/>
              </a:ext>
            </a:extLst>
          </p:cNvPr>
          <p:cNvSpPr txBox="1"/>
          <p:nvPr/>
        </p:nvSpPr>
        <p:spPr>
          <a:xfrm>
            <a:off x="9388019" y="6187239"/>
            <a:ext cx="1412951" cy="307777"/>
          </a:xfrm>
          <a:prstGeom prst="rect">
            <a:avLst/>
          </a:prstGeom>
          <a:noFill/>
        </p:spPr>
        <p:txBody>
          <a:bodyPr wrap="none" rtlCol="0">
            <a:spAutoFit/>
          </a:bodyPr>
          <a:lstStyle/>
          <a:p>
            <a:r>
              <a:rPr lang="en-US" sz="1400" dirty="0">
                <a:solidFill>
                  <a:srgbClr val="002060"/>
                </a:solidFill>
              </a:rPr>
              <a:t>FOUNDER &amp; CEO</a:t>
            </a:r>
          </a:p>
        </p:txBody>
      </p:sp>
      <p:pic>
        <p:nvPicPr>
          <p:cNvPr id="2" name="Image">
            <a:extLst>
              <a:ext uri="{FF2B5EF4-FFF2-40B4-BE49-F238E27FC236}">
                <a16:creationId xmlns:a16="http://schemas.microsoft.com/office/drawing/2014/main" id="{652F9B48-945A-5DB0-06C5-3679EEACBF14}"/>
              </a:ext>
            </a:extLst>
          </p:cNvPr>
          <p:cNvPicPr>
            <a:picLocks noChangeAspect="1"/>
          </p:cNvPicPr>
          <p:nvPr/>
        </p:nvPicPr>
        <p:blipFill>
          <a:blip r:embed="rId4">
            <a:extLst>
              <a:ext uri="{28A0092B-C50C-407E-A947-70E740481C1C}">
                <a14:useLocalDpi xmlns:a14="http://schemas.microsoft.com/office/drawing/2010/main" val="0"/>
              </a:ext>
            </a:extLst>
          </a:blip>
          <a:srcRect t="1758" b="1758"/>
          <a:stretch/>
        </p:blipFill>
        <p:spPr>
          <a:xfrm>
            <a:off x="11048076" y="5667530"/>
            <a:ext cx="873176" cy="827486"/>
          </a:xfrm>
          <a:prstGeom prst="rect">
            <a:avLst/>
          </a:prstGeom>
          <a:solidFill>
            <a:schemeClr val="tx1"/>
          </a:solidFill>
          <a:ln w="12700" cap="rnd">
            <a:solidFill>
              <a:schemeClr val="accent1">
                <a:alpha val="62000"/>
              </a:schemeClr>
            </a:solidFill>
            <a:bevel/>
          </a:ln>
          <a:effectLst>
            <a:glow rad="260455">
              <a:schemeClr val="accent1">
                <a:alpha val="2204"/>
              </a:schemeClr>
            </a:glow>
            <a:outerShdw blurRad="50800" dist="50800" dir="5400000" algn="ctr" rotWithShape="0">
              <a:srgbClr val="000000"/>
            </a:outerShdw>
          </a:effectLst>
          <a:scene3d>
            <a:camera prst="orthographicFront"/>
            <a:lightRig rig="threePt" dir="t"/>
          </a:scene3d>
          <a:sp3d contourW="12700">
            <a:bevelB w="152400" h="50800" prst="softRound"/>
            <a:contourClr>
              <a:srgbClr val="D9D9D9"/>
            </a:contourClr>
          </a:sp3d>
        </p:spPr>
      </p:pic>
    </p:spTree>
    <p:extLst>
      <p:ext uri="{BB962C8B-B14F-4D97-AF65-F5344CB8AC3E}">
        <p14:creationId xmlns:p14="http://schemas.microsoft.com/office/powerpoint/2010/main" val="607924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50000"/>
            <a:alpha val="88000"/>
          </a:schemeClr>
        </a:solidFill>
        <a:effectLst/>
      </p:bgPr>
    </p:bg>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7CBF417A-A6F4-B2B9-88EF-B1AB67EA5A0E}"/>
              </a:ext>
            </a:extLst>
          </p:cNvPr>
          <p:cNvSpPr txBox="1"/>
          <p:nvPr/>
        </p:nvSpPr>
        <p:spPr>
          <a:xfrm>
            <a:off x="5918158" y="2421939"/>
            <a:ext cx="5359443" cy="2280190"/>
          </a:xfrm>
          <a:prstGeom prst="rect">
            <a:avLst/>
          </a:prstGeom>
          <a:solidFill>
            <a:schemeClr val="accent1">
              <a:lumMod val="40000"/>
              <a:lumOff val="60000"/>
              <a:alpha val="59000"/>
            </a:schemeClr>
          </a:solidFill>
          <a:ln w="19050">
            <a:noFill/>
          </a:ln>
        </p:spPr>
        <p:txBody>
          <a:bodyPr wrap="square" rtlCol="0">
            <a:spAutoFit/>
          </a:bodyPr>
          <a:lstStyle/>
          <a:p>
            <a:endParaRPr lang="en-RU" dirty="0"/>
          </a:p>
        </p:txBody>
      </p:sp>
      <p:sp>
        <p:nvSpPr>
          <p:cNvPr id="13" name="TextBox 12">
            <a:extLst>
              <a:ext uri="{FF2B5EF4-FFF2-40B4-BE49-F238E27FC236}">
                <a16:creationId xmlns:a16="http://schemas.microsoft.com/office/drawing/2014/main" id="{FCF8A06E-B462-1188-4B21-DEAC1C30F87C}"/>
              </a:ext>
            </a:extLst>
          </p:cNvPr>
          <p:cNvSpPr txBox="1"/>
          <p:nvPr/>
        </p:nvSpPr>
        <p:spPr>
          <a:xfrm>
            <a:off x="479383" y="4015277"/>
            <a:ext cx="5099614" cy="1021419"/>
          </a:xfrm>
          <a:prstGeom prst="rect">
            <a:avLst/>
          </a:prstGeom>
          <a:solidFill>
            <a:schemeClr val="accent1">
              <a:lumMod val="40000"/>
              <a:lumOff val="60000"/>
              <a:alpha val="39000"/>
            </a:schemeClr>
          </a:solidFill>
          <a:ln w="19050">
            <a:solidFill>
              <a:schemeClr val="bg1">
                <a:alpha val="0"/>
              </a:schemeClr>
            </a:solidFill>
          </a:ln>
        </p:spPr>
        <p:txBody>
          <a:bodyPr wrap="square" rtlCol="0">
            <a:spAutoFit/>
          </a:bodyPr>
          <a:lstStyle/>
          <a:p>
            <a:endParaRPr lang="en-RU" dirty="0"/>
          </a:p>
        </p:txBody>
      </p:sp>
      <p:sp>
        <p:nvSpPr>
          <p:cNvPr id="9" name="TextBox 8">
            <a:extLst>
              <a:ext uri="{FF2B5EF4-FFF2-40B4-BE49-F238E27FC236}">
                <a16:creationId xmlns:a16="http://schemas.microsoft.com/office/drawing/2014/main" id="{67765A19-32A6-34FD-E3A5-B39322ED6AB6}"/>
              </a:ext>
            </a:extLst>
          </p:cNvPr>
          <p:cNvSpPr txBox="1"/>
          <p:nvPr/>
        </p:nvSpPr>
        <p:spPr>
          <a:xfrm>
            <a:off x="479385" y="1407390"/>
            <a:ext cx="5099612" cy="1014549"/>
          </a:xfrm>
          <a:prstGeom prst="rect">
            <a:avLst/>
          </a:prstGeom>
          <a:solidFill>
            <a:schemeClr val="accent1">
              <a:lumMod val="40000"/>
              <a:lumOff val="60000"/>
              <a:alpha val="53000"/>
            </a:schemeClr>
          </a:solidFill>
          <a:ln w="19050">
            <a:solidFill>
              <a:schemeClr val="bg1">
                <a:alpha val="0"/>
              </a:schemeClr>
            </a:solidFill>
          </a:ln>
        </p:spPr>
        <p:txBody>
          <a:bodyPr wrap="square" rtlCol="0">
            <a:spAutoFit/>
          </a:bodyPr>
          <a:lstStyle/>
          <a:p>
            <a:endParaRPr lang="en-RU" dirty="0"/>
          </a:p>
        </p:txBody>
      </p:sp>
      <p:sp>
        <p:nvSpPr>
          <p:cNvPr id="2" name="Title 1">
            <a:extLst>
              <a:ext uri="{FF2B5EF4-FFF2-40B4-BE49-F238E27FC236}">
                <a16:creationId xmlns:a16="http://schemas.microsoft.com/office/drawing/2014/main" id="{1B281075-62DB-0120-C21C-703BBCEAE3D7}"/>
              </a:ext>
            </a:extLst>
          </p:cNvPr>
          <p:cNvSpPr>
            <a:spLocks noGrp="1"/>
          </p:cNvSpPr>
          <p:nvPr>
            <p:ph type="title"/>
          </p:nvPr>
        </p:nvSpPr>
        <p:spPr>
          <a:xfrm>
            <a:off x="899408" y="413313"/>
            <a:ext cx="1543987" cy="774127"/>
          </a:xfrm>
          <a:ln w="76200">
            <a:solidFill>
              <a:srgbClr val="FFC000"/>
            </a:solidFill>
          </a:ln>
        </p:spPr>
        <p:txBody>
          <a:bodyPr lIns="72000" tIns="0" rIns="108000" bIns="0" anchor="ctr" anchorCtr="1"/>
          <a:lstStyle/>
          <a:p>
            <a:pPr algn="ctr"/>
            <a:r>
              <a:rPr lang="en-GB" b="0" i="0" strike="noStrike" dirty="0">
                <a:solidFill>
                  <a:srgbClr val="D9D9D9"/>
                </a:solidFill>
                <a:effectLst/>
                <a:highlight>
                  <a:srgbClr val="800000"/>
                </a:highlight>
                <a:latin typeface="Söhne"/>
              </a:rPr>
              <a:t>Index</a:t>
            </a:r>
            <a:endParaRPr lang="en-RU" dirty="0">
              <a:solidFill>
                <a:srgbClr val="D9D9D9"/>
              </a:solidFill>
              <a:highlight>
                <a:srgbClr val="800000"/>
              </a:highlight>
            </a:endParaRPr>
          </a:p>
        </p:txBody>
      </p:sp>
      <p:sp>
        <p:nvSpPr>
          <p:cNvPr id="7" name="Content Placeholder 6">
            <a:extLst>
              <a:ext uri="{FF2B5EF4-FFF2-40B4-BE49-F238E27FC236}">
                <a16:creationId xmlns:a16="http://schemas.microsoft.com/office/drawing/2014/main" id="{7313894C-8364-B7C7-D8D6-54BCAA6F4129}"/>
              </a:ext>
            </a:extLst>
          </p:cNvPr>
          <p:cNvSpPr>
            <a:spLocks noGrp="1"/>
          </p:cNvSpPr>
          <p:nvPr>
            <p:ph sz="half" idx="2"/>
          </p:nvPr>
        </p:nvSpPr>
        <p:spPr>
          <a:xfrm>
            <a:off x="6184920" y="1932099"/>
            <a:ext cx="5181600" cy="4659067"/>
          </a:xfrm>
          <a:ln cmpd="thickThin">
            <a:solidFill>
              <a:schemeClr val="tx2">
                <a:lumMod val="60000"/>
                <a:lumOff val="40000"/>
              </a:schemeClr>
            </a:solidFill>
          </a:ln>
        </p:spPr>
        <p:txBody>
          <a:bodyPr>
            <a:normAutofit/>
          </a:bodyPr>
          <a:lstStyle/>
          <a:p>
            <a:endParaRPr lang="en-RU" dirty="0"/>
          </a:p>
          <a:p>
            <a:r>
              <a:rPr lang="en-GB" sz="1900" b="0" i="0" u="none" strike="noStrike" dirty="0">
                <a:solidFill>
                  <a:srgbClr val="880002"/>
                </a:solidFill>
                <a:effectLst/>
                <a:latin typeface="Söhne"/>
              </a:rPr>
              <a:t>Slide 5</a:t>
            </a:r>
            <a:r>
              <a:rPr lang="en-GB" sz="1900" b="0" i="0" u="none" strike="noStrike" dirty="0">
                <a:solidFill>
                  <a:schemeClr val="bg1"/>
                </a:solidFill>
                <a:effectLst/>
                <a:latin typeface="Söhne"/>
              </a:rPr>
              <a:t>: Features</a:t>
            </a:r>
            <a:endParaRPr lang="en-GB" sz="1600" b="0" i="0" u="none" strike="noStrike" dirty="0">
              <a:solidFill>
                <a:schemeClr val="bg1"/>
              </a:solidFill>
              <a:effectLst/>
              <a:latin typeface="Söhne"/>
            </a:endParaRPr>
          </a:p>
          <a:p>
            <a:pPr>
              <a:buFont typeface="Arial" panose="020B0604020202020204" pitchFamily="34" charset="0"/>
              <a:buChar char="•"/>
            </a:pPr>
            <a:r>
              <a:rPr lang="en-GB" sz="1600" b="0" i="0" u="none" strike="noStrike" dirty="0">
                <a:solidFill>
                  <a:schemeClr val="bg1"/>
                </a:solidFill>
                <a:effectLst/>
                <a:latin typeface="Microsoft Sans Serif" panose="020B0604020202020204" pitchFamily="34" charset="0"/>
                <a:cs typeface="Microsoft Sans Serif" panose="020B0604020202020204" pitchFamily="34" charset="0"/>
              </a:rPr>
              <a:t>Detailed overview of the features and benefits of using Hotels Vendors, such as:</a:t>
            </a:r>
          </a:p>
          <a:p>
            <a:pPr marL="742950" lvl="1" indent="-285750">
              <a:buFont typeface="Arial" panose="020B0604020202020204" pitchFamily="34" charset="0"/>
              <a:buChar char="•"/>
            </a:pPr>
            <a:r>
              <a:rPr lang="en-GB" sz="1600" b="0" i="0" u="none" strike="noStrike" dirty="0">
                <a:solidFill>
                  <a:schemeClr val="bg1"/>
                </a:solidFill>
                <a:effectLst/>
                <a:latin typeface="Microsoft Sans Serif" panose="020B0604020202020204" pitchFamily="34" charset="0"/>
                <a:cs typeface="Microsoft Sans Serif" panose="020B0604020202020204" pitchFamily="34" charset="0"/>
              </a:rPr>
              <a:t>Automated purchasing and negotiation</a:t>
            </a:r>
          </a:p>
          <a:p>
            <a:pPr marL="742950" lvl="1" indent="-285750">
              <a:buFont typeface="Arial" panose="020B0604020202020204" pitchFamily="34" charset="0"/>
              <a:buChar char="•"/>
            </a:pPr>
            <a:r>
              <a:rPr lang="en-GB" sz="1600" b="0" i="0" u="none" strike="noStrike" dirty="0">
                <a:solidFill>
                  <a:schemeClr val="bg1"/>
                </a:solidFill>
                <a:effectLst/>
                <a:latin typeface="Microsoft Sans Serif" panose="020B0604020202020204" pitchFamily="34" charset="0"/>
                <a:cs typeface="Microsoft Sans Serif" panose="020B0604020202020204" pitchFamily="34" charset="0"/>
              </a:rPr>
              <a:t>Multi-vendor marketplace</a:t>
            </a:r>
          </a:p>
          <a:p>
            <a:pPr marL="742950" lvl="1" indent="-285750">
              <a:buFont typeface="Arial" panose="020B0604020202020204" pitchFamily="34" charset="0"/>
              <a:buChar char="•"/>
            </a:pPr>
            <a:r>
              <a:rPr lang="en-GB" sz="1600" b="0" i="0" u="none" strike="noStrike" dirty="0">
                <a:solidFill>
                  <a:schemeClr val="bg1"/>
                </a:solidFill>
                <a:effectLst/>
                <a:latin typeface="Microsoft Sans Serif" panose="020B0604020202020204" pitchFamily="34" charset="0"/>
                <a:cs typeface="Microsoft Sans Serif" panose="020B0604020202020204" pitchFamily="34" charset="0"/>
              </a:rPr>
              <a:t>Factoring and logistics solutions</a:t>
            </a:r>
          </a:p>
          <a:p>
            <a:pPr marL="742950" lvl="1" indent="-285750">
              <a:buFont typeface="Arial" panose="020B0604020202020204" pitchFamily="34" charset="0"/>
              <a:buChar char="•"/>
            </a:pPr>
            <a:r>
              <a:rPr lang="en-GB" sz="1600" b="0" i="0" u="none" strike="noStrike" dirty="0">
                <a:solidFill>
                  <a:schemeClr val="bg1"/>
                </a:solidFill>
                <a:effectLst/>
                <a:latin typeface="Microsoft Sans Serif" panose="020B0604020202020204" pitchFamily="34" charset="0"/>
                <a:cs typeface="Microsoft Sans Serif" panose="020B0604020202020204" pitchFamily="34" charset="0"/>
              </a:rPr>
              <a:t>Real-time data and analytics</a:t>
            </a:r>
          </a:p>
          <a:p>
            <a:pPr marL="742950" lvl="1" indent="-285750">
              <a:buFont typeface="Arial" panose="020B0604020202020204" pitchFamily="34" charset="0"/>
              <a:buChar char="•"/>
            </a:pPr>
            <a:r>
              <a:rPr lang="en-GB" sz="1600" b="0" i="0" u="none" strike="noStrike" dirty="0">
                <a:solidFill>
                  <a:schemeClr val="bg1"/>
                </a:solidFill>
                <a:effectLst/>
                <a:latin typeface="Microsoft Sans Serif" panose="020B0604020202020204" pitchFamily="34" charset="0"/>
                <a:cs typeface="Microsoft Sans Serif" panose="020B0604020202020204" pitchFamily="34" charset="0"/>
              </a:rPr>
              <a:t>Customizable and secure platform</a:t>
            </a:r>
            <a:endParaRPr lang="en-GB" sz="2900" dirty="0">
              <a:solidFill>
                <a:srgbClr val="880002"/>
              </a:solidFill>
              <a:latin typeface="Söhne"/>
            </a:endParaRPr>
          </a:p>
          <a:p>
            <a:pPr algn="l"/>
            <a:r>
              <a:rPr lang="en-GB" sz="1900" b="0" i="0" u="none" strike="noStrike" dirty="0">
                <a:solidFill>
                  <a:srgbClr val="880002"/>
                </a:solidFill>
                <a:effectLst/>
                <a:latin typeface="Söhne"/>
              </a:rPr>
              <a:t>Slide 6</a:t>
            </a:r>
            <a:r>
              <a:rPr lang="en-GB" sz="1900" b="0" i="0" u="none" strike="noStrike" dirty="0">
                <a:solidFill>
                  <a:schemeClr val="bg1"/>
                </a:solidFill>
                <a:effectLst/>
                <a:latin typeface="Söhne"/>
              </a:rPr>
              <a:t>: Conclusion</a:t>
            </a:r>
          </a:p>
          <a:p>
            <a:pPr algn="l">
              <a:buFont typeface="Arial" panose="020B0604020202020204" pitchFamily="34" charset="0"/>
              <a:buChar char="•"/>
            </a:pPr>
            <a:r>
              <a:rPr lang="en-GB" sz="1700" b="0" i="0" u="none" strike="noStrike" dirty="0">
                <a:solidFill>
                  <a:schemeClr val="bg1"/>
                </a:solidFill>
                <a:effectLst/>
                <a:latin typeface="Söhne"/>
              </a:rPr>
              <a:t>Summary of the benefits of using Hotels Vendors</a:t>
            </a:r>
          </a:p>
          <a:p>
            <a:pPr algn="l">
              <a:buFont typeface="Arial" panose="020B0604020202020204" pitchFamily="34" charset="0"/>
              <a:buChar char="•"/>
            </a:pPr>
            <a:r>
              <a:rPr lang="en-GB" sz="1700" b="0" i="0" u="none" strike="noStrike" dirty="0">
                <a:solidFill>
                  <a:schemeClr val="bg1"/>
                </a:solidFill>
                <a:effectLst/>
                <a:latin typeface="Söhne"/>
              </a:rPr>
              <a:t>Call to action for interested parties to visit the website and learn more</a:t>
            </a:r>
          </a:p>
          <a:p>
            <a:pPr algn="l">
              <a:buFont typeface="Arial" panose="020B0604020202020204" pitchFamily="34" charset="0"/>
              <a:buChar char="•"/>
            </a:pPr>
            <a:r>
              <a:rPr lang="en-GB" sz="1700" b="0" i="0" u="none" strike="noStrike" dirty="0">
                <a:solidFill>
                  <a:schemeClr val="bg1"/>
                </a:solidFill>
                <a:effectLst/>
                <a:latin typeface="Söhne"/>
              </a:rPr>
              <a:t>Contact information for further inquiry</a:t>
            </a:r>
          </a:p>
          <a:p>
            <a:pPr algn="l"/>
            <a:endParaRPr lang="en-GB" sz="1700" b="0" i="0" u="none" strike="noStrike" dirty="0">
              <a:solidFill>
                <a:srgbClr val="880002"/>
              </a:solidFill>
              <a:effectLst/>
              <a:latin typeface="Söhne"/>
            </a:endParaRPr>
          </a:p>
          <a:p>
            <a:pPr marL="0" indent="0" algn="l">
              <a:buNone/>
            </a:pPr>
            <a:endParaRPr lang="en-GB" sz="3300" b="0" i="0" u="none" strike="noStrike" dirty="0">
              <a:solidFill>
                <a:srgbClr val="D9D9D9"/>
              </a:solidFill>
              <a:effectLst/>
              <a:latin typeface="Söhne"/>
            </a:endParaRPr>
          </a:p>
        </p:txBody>
      </p:sp>
      <p:sp>
        <p:nvSpPr>
          <p:cNvPr id="5" name="TextBox 4">
            <a:extLst>
              <a:ext uri="{FF2B5EF4-FFF2-40B4-BE49-F238E27FC236}">
                <a16:creationId xmlns:a16="http://schemas.microsoft.com/office/drawing/2014/main" id="{2761F90E-7182-A2DD-7975-D036D02197EB}"/>
              </a:ext>
            </a:extLst>
          </p:cNvPr>
          <p:cNvSpPr txBox="1"/>
          <p:nvPr/>
        </p:nvSpPr>
        <p:spPr>
          <a:xfrm>
            <a:off x="479385" y="1382192"/>
            <a:ext cx="5099613" cy="5386090"/>
          </a:xfrm>
          <a:prstGeom prst="rect">
            <a:avLst/>
          </a:prstGeom>
          <a:noFill/>
        </p:spPr>
        <p:txBody>
          <a:bodyPr wrap="square">
            <a:spAutoFit/>
          </a:bodyPr>
          <a:lstStyle/>
          <a:p>
            <a:r>
              <a:rPr lang="en-GB" sz="1600" b="0" i="0" u="none" strike="noStrike" dirty="0">
                <a:solidFill>
                  <a:srgbClr val="880002"/>
                </a:solidFill>
                <a:effectLst/>
                <a:latin typeface="Söhne"/>
              </a:rPr>
              <a:t>Slide 1-4</a:t>
            </a:r>
            <a:r>
              <a:rPr lang="en-GB" sz="1600" b="0" i="0" u="none" strike="noStrike" dirty="0">
                <a:solidFill>
                  <a:schemeClr val="bg1"/>
                </a:solidFill>
                <a:effectLst/>
                <a:latin typeface="Söhne"/>
              </a:rPr>
              <a:t>: Introduction</a:t>
            </a:r>
          </a:p>
          <a:p>
            <a:pPr>
              <a:buFont typeface="Arial" panose="020B0604020202020204" pitchFamily="34" charset="0"/>
              <a:buChar char="•"/>
            </a:pPr>
            <a:r>
              <a:rPr lang="en-GB" sz="1500" b="0" i="0" u="none" strike="noStrike" dirty="0">
                <a:solidFill>
                  <a:schemeClr val="bg1"/>
                </a:solidFill>
                <a:effectLst/>
                <a:latin typeface="Söhne"/>
              </a:rPr>
              <a:t>Title of presentation: "Hotels Vendors: Streamlining Procurement for the Hospitality Industry"</a:t>
            </a:r>
          </a:p>
          <a:p>
            <a:pPr>
              <a:buFont typeface="Arial" panose="020B0604020202020204" pitchFamily="34" charset="0"/>
              <a:buChar char="•"/>
            </a:pPr>
            <a:r>
              <a:rPr lang="en-GB" sz="1500" b="0" i="0" u="none" strike="noStrike" dirty="0">
                <a:solidFill>
                  <a:schemeClr val="bg1"/>
                </a:solidFill>
                <a:effectLst/>
                <a:latin typeface="Söhne"/>
              </a:rPr>
              <a:t>Brief overview of Hotels Vendors and its mission</a:t>
            </a:r>
          </a:p>
          <a:p>
            <a:endParaRPr lang="en-GB" sz="1600" b="0" i="0" u="none" strike="noStrike" dirty="0">
              <a:solidFill>
                <a:srgbClr val="880002"/>
              </a:solidFill>
              <a:effectLst/>
              <a:latin typeface="Söhne"/>
            </a:endParaRPr>
          </a:p>
          <a:p>
            <a:r>
              <a:rPr lang="en-GB" sz="1600" b="0" i="0" u="none" strike="noStrike" dirty="0">
                <a:solidFill>
                  <a:srgbClr val="880002"/>
                </a:solidFill>
                <a:effectLst/>
                <a:latin typeface="Söhne"/>
              </a:rPr>
              <a:t>Slide </a:t>
            </a:r>
            <a:r>
              <a:rPr lang="en-GB" sz="1600" dirty="0">
                <a:solidFill>
                  <a:srgbClr val="880002"/>
                </a:solidFill>
                <a:latin typeface="Söhne"/>
              </a:rPr>
              <a:t>5-6 </a:t>
            </a:r>
            <a:r>
              <a:rPr lang="en-GB" sz="1600" b="0" i="0" u="none" strike="noStrike" dirty="0">
                <a:solidFill>
                  <a:schemeClr val="bg1"/>
                </a:solidFill>
                <a:effectLst/>
                <a:latin typeface="Söhne"/>
              </a:rPr>
              <a:t>: Problem</a:t>
            </a:r>
          </a:p>
          <a:p>
            <a:pPr>
              <a:buFont typeface="Arial" panose="020B0604020202020204" pitchFamily="34" charset="0"/>
              <a:buChar char="•"/>
            </a:pPr>
            <a:r>
              <a:rPr lang="en-GB" sz="1500" b="0" i="0" u="none" strike="noStrike" dirty="0">
                <a:solidFill>
                  <a:schemeClr val="bg1"/>
                </a:solidFill>
                <a:effectLst/>
                <a:latin typeface="Söhne"/>
              </a:rPr>
              <a:t>Overview of common issues faced by hotels in the procurement process</a:t>
            </a:r>
          </a:p>
          <a:p>
            <a:pPr>
              <a:buFont typeface="Arial" panose="020B0604020202020204" pitchFamily="34" charset="0"/>
              <a:buChar char="•"/>
            </a:pPr>
            <a:r>
              <a:rPr lang="en-GB" sz="1500" b="0" i="0" u="none" strike="noStrike" dirty="0">
                <a:solidFill>
                  <a:schemeClr val="bg1"/>
                </a:solidFill>
                <a:effectLst/>
                <a:latin typeface="Söhne"/>
              </a:rPr>
              <a:t>Statistics and data on the costs and inefficiencies of traditional procurement methods</a:t>
            </a:r>
          </a:p>
          <a:p>
            <a:endParaRPr lang="en-GB" sz="1600" b="0" i="0" u="none" strike="noStrike" dirty="0">
              <a:solidFill>
                <a:schemeClr val="bg1"/>
              </a:solidFill>
              <a:effectLst/>
              <a:latin typeface="Söhne"/>
            </a:endParaRPr>
          </a:p>
          <a:p>
            <a:r>
              <a:rPr lang="en-GB" sz="1600" b="0" i="0" u="none" strike="noStrike" dirty="0">
                <a:solidFill>
                  <a:srgbClr val="880002"/>
                </a:solidFill>
                <a:effectLst/>
                <a:latin typeface="Söhne"/>
              </a:rPr>
              <a:t>Slide 7</a:t>
            </a:r>
            <a:r>
              <a:rPr lang="en-GB" sz="1600" b="0" i="0" u="none" strike="noStrike" dirty="0">
                <a:solidFill>
                  <a:schemeClr val="bg1"/>
                </a:solidFill>
                <a:effectLst/>
                <a:latin typeface="Söhne"/>
              </a:rPr>
              <a:t>: Solution</a:t>
            </a:r>
          </a:p>
          <a:p>
            <a:pPr>
              <a:buFont typeface="Arial" panose="020B0604020202020204" pitchFamily="34" charset="0"/>
              <a:buChar char="•"/>
            </a:pPr>
            <a:r>
              <a:rPr lang="en-GB" sz="1500" b="0" i="0" u="none" strike="noStrike" dirty="0">
                <a:solidFill>
                  <a:schemeClr val="bg1"/>
                </a:solidFill>
                <a:effectLst/>
                <a:latin typeface="Söhne"/>
              </a:rPr>
              <a:t>Introduction of Hotels Vendors as a solution to these problems</a:t>
            </a:r>
          </a:p>
          <a:p>
            <a:pPr>
              <a:buFont typeface="Arial" panose="020B0604020202020204" pitchFamily="34" charset="0"/>
              <a:buChar char="•"/>
            </a:pPr>
            <a:r>
              <a:rPr lang="en-GB" sz="1500" b="0" i="0" u="none" strike="noStrike" dirty="0">
                <a:solidFill>
                  <a:schemeClr val="bg1"/>
                </a:solidFill>
                <a:effectLst/>
                <a:latin typeface="Söhne"/>
              </a:rPr>
              <a:t>Explanation of how Hotels Vendors streamlines the procurement process for hotels</a:t>
            </a:r>
          </a:p>
          <a:p>
            <a:endParaRPr lang="en-GB" sz="1600" dirty="0">
              <a:solidFill>
                <a:schemeClr val="bg1"/>
              </a:solidFill>
              <a:latin typeface="Söhne"/>
            </a:endParaRPr>
          </a:p>
          <a:p>
            <a:pPr algn="l"/>
            <a:r>
              <a:rPr lang="en-GB" sz="1800" b="0" i="0" u="none" strike="noStrike" dirty="0">
                <a:solidFill>
                  <a:srgbClr val="880002"/>
                </a:solidFill>
                <a:effectLst/>
                <a:latin typeface="Söhne"/>
              </a:rPr>
              <a:t>Slide 4</a:t>
            </a:r>
            <a:r>
              <a:rPr lang="en-GB" sz="1800" b="0" i="0" u="none" strike="noStrike" dirty="0">
                <a:solidFill>
                  <a:schemeClr val="bg1"/>
                </a:solidFill>
                <a:effectLst/>
                <a:latin typeface="Söhne"/>
              </a:rPr>
              <a:t>: Example</a:t>
            </a:r>
          </a:p>
          <a:p>
            <a:pPr algn="l">
              <a:buFont typeface="Arial" panose="020B0604020202020204" pitchFamily="34" charset="0"/>
              <a:buChar char="•"/>
            </a:pPr>
            <a:r>
              <a:rPr lang="en-GB" sz="1600" b="0" i="0" u="none" strike="noStrike" dirty="0">
                <a:solidFill>
                  <a:schemeClr val="bg1"/>
                </a:solidFill>
                <a:effectLst/>
                <a:latin typeface="Söhne"/>
              </a:rPr>
              <a:t>Real-life examples of hotels that have successfully implemented Hotels Vendors and the cost savings they have achieved</a:t>
            </a:r>
          </a:p>
          <a:p>
            <a:pPr algn="l">
              <a:buFont typeface="Arial" panose="020B0604020202020204" pitchFamily="34" charset="0"/>
              <a:buChar char="•"/>
            </a:pPr>
            <a:r>
              <a:rPr lang="en-GB" sz="1600" b="0" i="0" u="none" strike="noStrike" dirty="0">
                <a:solidFill>
                  <a:schemeClr val="bg1"/>
                </a:solidFill>
                <a:effectLst/>
                <a:latin typeface="Söhne"/>
              </a:rPr>
              <a:t>Testimonials from satisfied customers</a:t>
            </a:r>
          </a:p>
          <a:p>
            <a:endParaRPr lang="en-GB" sz="1600" b="0" i="0" u="none" strike="noStrike" dirty="0">
              <a:solidFill>
                <a:srgbClr val="880002"/>
              </a:solidFill>
              <a:effectLst/>
              <a:latin typeface="Söhne"/>
            </a:endParaRPr>
          </a:p>
        </p:txBody>
      </p:sp>
      <p:pic>
        <p:nvPicPr>
          <p:cNvPr id="8" name="Image">
            <a:extLst>
              <a:ext uri="{FF2B5EF4-FFF2-40B4-BE49-F238E27FC236}">
                <a16:creationId xmlns:a16="http://schemas.microsoft.com/office/drawing/2014/main" id="{E450A6CC-6FCF-2562-B445-FC445C6C66C4}"/>
              </a:ext>
            </a:extLst>
          </p:cNvPr>
          <p:cNvPicPr>
            <a:picLocks noChangeAspect="1"/>
          </p:cNvPicPr>
          <p:nvPr/>
        </p:nvPicPr>
        <p:blipFill>
          <a:blip r:embed="rId2">
            <a:extLst>
              <a:ext uri="{28A0092B-C50C-407E-A947-70E740481C1C}">
                <a14:useLocalDpi xmlns:a14="http://schemas.microsoft.com/office/drawing/2010/main" val="0"/>
              </a:ext>
            </a:extLst>
          </a:blip>
          <a:srcRect t="1758" b="1758"/>
          <a:stretch/>
        </p:blipFill>
        <p:spPr>
          <a:xfrm>
            <a:off x="11063066" y="5727490"/>
            <a:ext cx="873176" cy="842476"/>
          </a:xfrm>
          <a:prstGeom prst="rect">
            <a:avLst/>
          </a:prstGeom>
          <a:solidFill>
            <a:schemeClr val="tx1"/>
          </a:solidFill>
          <a:ln w="12700" cap="rnd">
            <a:solidFill>
              <a:schemeClr val="accent1">
                <a:alpha val="62000"/>
              </a:schemeClr>
            </a:solidFill>
            <a:bevel/>
          </a:ln>
          <a:effectLst>
            <a:glow rad="260455">
              <a:schemeClr val="accent1">
                <a:alpha val="2204"/>
              </a:schemeClr>
            </a:glow>
            <a:outerShdw blurRad="50800" dist="50800" dir="5400000" algn="ctr" rotWithShape="0">
              <a:srgbClr val="000000"/>
            </a:outerShdw>
          </a:effectLst>
          <a:scene3d>
            <a:camera prst="orthographicFront"/>
            <a:lightRig rig="threePt" dir="t"/>
          </a:scene3d>
          <a:sp3d contourW="12700">
            <a:bevelB w="152400" h="50800" prst="softRound"/>
            <a:contourClr>
              <a:srgbClr val="D9D9D9"/>
            </a:contourClr>
          </a:sp3d>
        </p:spPr>
      </p:pic>
      <p:sp>
        <p:nvSpPr>
          <p:cNvPr id="10" name="TextBox 9">
            <a:extLst>
              <a:ext uri="{FF2B5EF4-FFF2-40B4-BE49-F238E27FC236}">
                <a16:creationId xmlns:a16="http://schemas.microsoft.com/office/drawing/2014/main" id="{0E5DD783-ED45-CAA2-3912-16F2B0EFE5AD}"/>
              </a:ext>
            </a:extLst>
          </p:cNvPr>
          <p:cNvSpPr txBox="1"/>
          <p:nvPr/>
        </p:nvSpPr>
        <p:spPr>
          <a:xfrm>
            <a:off x="479384" y="2482314"/>
            <a:ext cx="5099613" cy="369332"/>
          </a:xfrm>
          <a:prstGeom prst="rect">
            <a:avLst/>
          </a:prstGeom>
          <a:noFill/>
          <a:ln w="19050">
            <a:solidFill>
              <a:schemeClr val="bg1">
                <a:alpha val="0"/>
              </a:schemeClr>
            </a:solidFill>
          </a:ln>
        </p:spPr>
        <p:txBody>
          <a:bodyPr wrap="square" rtlCol="0">
            <a:spAutoFit/>
          </a:bodyPr>
          <a:lstStyle/>
          <a:p>
            <a:endParaRPr lang="en-RU" dirty="0">
              <a:highlight>
                <a:srgbClr val="00FFFF"/>
              </a:highlight>
            </a:endParaRPr>
          </a:p>
        </p:txBody>
      </p:sp>
      <p:sp>
        <p:nvSpPr>
          <p:cNvPr id="14" name="TextBox 13">
            <a:extLst>
              <a:ext uri="{FF2B5EF4-FFF2-40B4-BE49-F238E27FC236}">
                <a16:creationId xmlns:a16="http://schemas.microsoft.com/office/drawing/2014/main" id="{76F7F0CF-8E22-F2C2-B46B-9412845597CC}"/>
              </a:ext>
            </a:extLst>
          </p:cNvPr>
          <p:cNvSpPr txBox="1"/>
          <p:nvPr/>
        </p:nvSpPr>
        <p:spPr>
          <a:xfrm>
            <a:off x="479383" y="5135416"/>
            <a:ext cx="5099614" cy="1455750"/>
          </a:xfrm>
          <a:prstGeom prst="rect">
            <a:avLst/>
          </a:prstGeom>
          <a:noFill/>
          <a:ln w="19050">
            <a:noFill/>
          </a:ln>
        </p:spPr>
        <p:txBody>
          <a:bodyPr wrap="square" rtlCol="0">
            <a:spAutoFit/>
          </a:bodyPr>
          <a:lstStyle/>
          <a:p>
            <a:endParaRPr lang="en-RU" dirty="0"/>
          </a:p>
        </p:txBody>
      </p:sp>
      <p:sp>
        <p:nvSpPr>
          <p:cNvPr id="16" name="TextBox 15">
            <a:extLst>
              <a:ext uri="{FF2B5EF4-FFF2-40B4-BE49-F238E27FC236}">
                <a16:creationId xmlns:a16="http://schemas.microsoft.com/office/drawing/2014/main" id="{DF489AC1-10C2-3EB0-B9F5-5312987DA3C6}"/>
              </a:ext>
            </a:extLst>
          </p:cNvPr>
          <p:cNvSpPr txBox="1"/>
          <p:nvPr/>
        </p:nvSpPr>
        <p:spPr>
          <a:xfrm>
            <a:off x="5918158" y="4809775"/>
            <a:ext cx="5359443" cy="1781391"/>
          </a:xfrm>
          <a:prstGeom prst="rect">
            <a:avLst/>
          </a:prstGeom>
          <a:noFill/>
          <a:ln w="19050">
            <a:noFill/>
          </a:ln>
        </p:spPr>
        <p:txBody>
          <a:bodyPr wrap="square" rtlCol="0">
            <a:spAutoFit/>
          </a:bodyPr>
          <a:lstStyle/>
          <a:p>
            <a:endParaRPr lang="en-RU" dirty="0"/>
          </a:p>
        </p:txBody>
      </p:sp>
    </p:spTree>
    <p:extLst>
      <p:ext uri="{BB962C8B-B14F-4D97-AF65-F5344CB8AC3E}">
        <p14:creationId xmlns:p14="http://schemas.microsoft.com/office/powerpoint/2010/main" val="9422571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50000"/>
            <a:alpha val="91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F23B4-149E-9CFC-7D2F-2DDEB99B05AE}"/>
              </a:ext>
            </a:extLst>
          </p:cNvPr>
          <p:cNvSpPr>
            <a:spLocks noGrp="1"/>
          </p:cNvSpPr>
          <p:nvPr>
            <p:ph type="title"/>
          </p:nvPr>
        </p:nvSpPr>
        <p:spPr>
          <a:solidFill>
            <a:schemeClr val="bg1"/>
          </a:solidFill>
          <a:ln w="57150">
            <a:solidFill>
              <a:srgbClr val="FFC000"/>
            </a:solidFill>
            <a:prstDash val="dash"/>
          </a:ln>
        </p:spPr>
        <p:txBody>
          <a:bodyPr/>
          <a:lstStyle/>
          <a:p>
            <a:r>
              <a:rPr lang="en-GB" sz="3200" b="1" i="0" u="none" strike="noStrike" dirty="0">
                <a:solidFill>
                  <a:srgbClr val="880002"/>
                </a:solidFill>
                <a:effectLst/>
              </a:rPr>
              <a:t>The Pains </a:t>
            </a:r>
            <a:br>
              <a:rPr lang="en-GB" sz="3200" b="0" i="0" u="none" strike="noStrike" dirty="0">
                <a:solidFill>
                  <a:srgbClr val="880002"/>
                </a:solidFill>
                <a:effectLst/>
                <a:latin typeface="Söhne"/>
              </a:rPr>
            </a:br>
            <a:r>
              <a:rPr lang="en-GB" b="0" i="0" u="none" strike="noStrike" dirty="0">
                <a:solidFill>
                  <a:srgbClr val="FF0000"/>
                </a:solidFill>
                <a:effectLst/>
                <a:latin typeface="Microsoft Sans Serif" panose="020B0604020202020204" pitchFamily="34" charset="0"/>
                <a:cs typeface="Microsoft Sans Serif" panose="020B0604020202020204" pitchFamily="34" charset="0"/>
              </a:rPr>
              <a:t> </a:t>
            </a:r>
            <a:r>
              <a:rPr lang="en-GB" sz="2400" b="0" i="0" u="none" strike="noStrike" dirty="0">
                <a:solidFill>
                  <a:srgbClr val="941100"/>
                </a:solidFill>
                <a:effectLst/>
                <a:latin typeface="Microsoft Sans Serif" panose="020B0604020202020204" pitchFamily="34" charset="0"/>
                <a:cs typeface="Microsoft Sans Serif" panose="020B0604020202020204" pitchFamily="34" charset="0"/>
              </a:rPr>
              <a:t>common issues faced by hotels in the procurement process include:</a:t>
            </a:r>
            <a:endParaRPr lang="en-RU" sz="2400" dirty="0">
              <a:solidFill>
                <a:srgbClr val="941100"/>
              </a:solidFill>
              <a:latin typeface="Microsoft Sans Serif" panose="020B0604020202020204" pitchFamily="34" charset="0"/>
              <a:cs typeface="Microsoft Sans Serif" panose="020B0604020202020204" pitchFamily="34" charset="0"/>
            </a:endParaRPr>
          </a:p>
        </p:txBody>
      </p:sp>
      <p:sp>
        <p:nvSpPr>
          <p:cNvPr id="3" name="Content Placeholder 2">
            <a:extLst>
              <a:ext uri="{FF2B5EF4-FFF2-40B4-BE49-F238E27FC236}">
                <a16:creationId xmlns:a16="http://schemas.microsoft.com/office/drawing/2014/main" id="{CEFBE940-EAE9-D877-9251-38CA91238B0C}"/>
              </a:ext>
            </a:extLst>
          </p:cNvPr>
          <p:cNvSpPr>
            <a:spLocks noGrp="1"/>
          </p:cNvSpPr>
          <p:nvPr>
            <p:ph sz="half" idx="1"/>
          </p:nvPr>
        </p:nvSpPr>
        <p:spPr>
          <a:xfrm>
            <a:off x="423150" y="1886704"/>
            <a:ext cx="5181600" cy="4783919"/>
          </a:xfrm>
        </p:spPr>
        <p:txBody>
          <a:bodyPr>
            <a:noAutofit/>
          </a:bodyPr>
          <a:lstStyle/>
          <a:p>
            <a:pPr algn="l">
              <a:lnSpc>
                <a:spcPct val="100000"/>
              </a:lnSpc>
              <a:buFont typeface="+mj-lt"/>
              <a:buAutoNum type="arabicPeriod"/>
            </a:pPr>
            <a:r>
              <a:rPr lang="en-GB" sz="1600" b="0" i="0" u="none" strike="noStrike" dirty="0">
                <a:solidFill>
                  <a:schemeClr val="bg1"/>
                </a:solidFill>
                <a:effectLst/>
                <a:latin typeface="Microsoft Sans Serif" panose="020B0604020202020204" pitchFamily="34" charset="0"/>
                <a:cs typeface="Microsoft Sans Serif" panose="020B0604020202020204" pitchFamily="34" charset="0"/>
              </a:rPr>
              <a:t>High costs: Traditional procurement methods often involve lengthy negotiations and bidding processes, which can result in higher costs for hotels.</a:t>
            </a:r>
          </a:p>
          <a:p>
            <a:pPr marL="0" indent="0" algn="l">
              <a:lnSpc>
                <a:spcPct val="100000"/>
              </a:lnSpc>
              <a:buNone/>
            </a:pPr>
            <a:endParaRPr lang="en-GB" sz="1600" b="0" i="0" u="none" strike="noStrike" dirty="0">
              <a:solidFill>
                <a:schemeClr val="bg1"/>
              </a:solidFill>
              <a:effectLst/>
              <a:latin typeface="Microsoft Sans Serif" panose="020B0604020202020204" pitchFamily="34" charset="0"/>
              <a:cs typeface="Microsoft Sans Serif" panose="020B0604020202020204" pitchFamily="34" charset="0"/>
            </a:endParaRPr>
          </a:p>
          <a:p>
            <a:pPr marL="0" indent="0" algn="l">
              <a:lnSpc>
                <a:spcPct val="100000"/>
              </a:lnSpc>
              <a:buNone/>
            </a:pPr>
            <a:r>
              <a:rPr lang="en-GB" sz="1600" b="0" i="0" u="none" strike="noStrike" dirty="0">
                <a:solidFill>
                  <a:schemeClr val="bg1"/>
                </a:solidFill>
                <a:effectLst/>
                <a:latin typeface="Microsoft Sans Serif" panose="020B0604020202020204" pitchFamily="34" charset="0"/>
                <a:cs typeface="Microsoft Sans Serif" panose="020B0604020202020204" pitchFamily="34" charset="0"/>
              </a:rPr>
              <a:t>2. Lack of transparency: It can be difficult for hotels to get a clear overview of their purchasing process, making it difficult to identify areas for improvement.</a:t>
            </a:r>
          </a:p>
          <a:p>
            <a:pPr marL="0" indent="0" algn="l">
              <a:lnSpc>
                <a:spcPct val="100000"/>
              </a:lnSpc>
              <a:buNone/>
            </a:pPr>
            <a:endParaRPr lang="en-GB" sz="1600" dirty="0">
              <a:solidFill>
                <a:schemeClr val="bg1"/>
              </a:solidFill>
              <a:latin typeface="Microsoft Sans Serif" panose="020B0604020202020204" pitchFamily="34" charset="0"/>
              <a:cs typeface="Microsoft Sans Serif" panose="020B0604020202020204" pitchFamily="34" charset="0"/>
            </a:endParaRPr>
          </a:p>
          <a:p>
            <a:pPr marL="0" indent="0" algn="l">
              <a:lnSpc>
                <a:spcPct val="100000"/>
              </a:lnSpc>
              <a:buNone/>
            </a:pPr>
            <a:r>
              <a:rPr lang="en-GB" sz="1600" b="0" i="0" u="none" strike="noStrike" dirty="0">
                <a:solidFill>
                  <a:schemeClr val="bg1"/>
                </a:solidFill>
                <a:effectLst/>
                <a:latin typeface="Microsoft Sans Serif" panose="020B0604020202020204" pitchFamily="34" charset="0"/>
                <a:cs typeface="Microsoft Sans Serif" panose="020B0604020202020204" pitchFamily="34" charset="0"/>
              </a:rPr>
              <a:t>3. Inefficiencies: Traditional procurement methods can be time-consuming and resource-intensive, resulting in delays and increased costs.</a:t>
            </a:r>
          </a:p>
          <a:p>
            <a:pPr algn="l">
              <a:lnSpc>
                <a:spcPct val="100000"/>
              </a:lnSpc>
              <a:buFont typeface="+mj-lt"/>
              <a:buAutoNum type="arabicPeriod"/>
            </a:pPr>
            <a:endParaRPr lang="en-GB" sz="1600" b="0" i="0" u="none" strike="noStrike" dirty="0">
              <a:solidFill>
                <a:schemeClr val="bg1"/>
              </a:solidFill>
              <a:effectLst/>
              <a:latin typeface="Microsoft Sans Serif" panose="020B0604020202020204" pitchFamily="34" charset="0"/>
              <a:cs typeface="Microsoft Sans Serif" panose="020B0604020202020204" pitchFamily="34" charset="0"/>
            </a:endParaRPr>
          </a:p>
          <a:p>
            <a:pPr marL="0" indent="0" algn="l">
              <a:lnSpc>
                <a:spcPct val="100000"/>
              </a:lnSpc>
              <a:buNone/>
            </a:pPr>
            <a:r>
              <a:rPr lang="en-GB" sz="1600" b="0" i="0" u="none" strike="noStrike" dirty="0">
                <a:solidFill>
                  <a:schemeClr val="bg1"/>
                </a:solidFill>
                <a:effectLst/>
                <a:latin typeface="Microsoft Sans Serif" panose="020B0604020202020204" pitchFamily="34" charset="0"/>
                <a:cs typeface="Microsoft Sans Serif" panose="020B0604020202020204" pitchFamily="34" charset="0"/>
              </a:rPr>
              <a:t>4. Limited vendor options: Hotels may have  limited options for vendors, which can result in higher     </a:t>
            </a:r>
            <a:r>
              <a:rPr lang="en-GB" sz="1600" dirty="0">
                <a:solidFill>
                  <a:schemeClr val="bg1"/>
                </a:solidFill>
                <a:latin typeface="Microsoft Sans Serif" panose="020B0604020202020204" pitchFamily="34" charset="0"/>
                <a:cs typeface="Microsoft Sans Serif" panose="020B0604020202020204" pitchFamily="34" charset="0"/>
              </a:rPr>
              <a:t>    </a:t>
            </a:r>
            <a:r>
              <a:rPr lang="en-GB" sz="1600" b="0" i="0" u="none" strike="noStrike" dirty="0">
                <a:solidFill>
                  <a:schemeClr val="bg1"/>
                </a:solidFill>
                <a:effectLst/>
                <a:latin typeface="Microsoft Sans Serif" panose="020B0604020202020204" pitchFamily="34" charset="0"/>
                <a:cs typeface="Microsoft Sans Serif" panose="020B0604020202020204" pitchFamily="34" charset="0"/>
              </a:rPr>
              <a:t>prices and reduced flexibility.</a:t>
            </a:r>
          </a:p>
          <a:p>
            <a:endParaRPr lang="en-RU" sz="1400" dirty="0"/>
          </a:p>
        </p:txBody>
      </p:sp>
      <p:sp>
        <p:nvSpPr>
          <p:cNvPr id="4" name="Content Placeholder 3">
            <a:extLst>
              <a:ext uri="{FF2B5EF4-FFF2-40B4-BE49-F238E27FC236}">
                <a16:creationId xmlns:a16="http://schemas.microsoft.com/office/drawing/2014/main" id="{43220A9A-59F8-040E-959C-09060973EBE2}"/>
              </a:ext>
            </a:extLst>
          </p:cNvPr>
          <p:cNvSpPr>
            <a:spLocks noGrp="1"/>
          </p:cNvSpPr>
          <p:nvPr>
            <p:ph sz="half" idx="2"/>
          </p:nvPr>
        </p:nvSpPr>
        <p:spPr>
          <a:xfrm>
            <a:off x="6587250" y="1894199"/>
            <a:ext cx="5181600" cy="4963801"/>
          </a:xfrm>
        </p:spPr>
        <p:txBody>
          <a:bodyPr>
            <a:noAutofit/>
          </a:bodyPr>
          <a:lstStyle/>
          <a:p>
            <a:pPr marL="0" indent="0" algn="l">
              <a:lnSpc>
                <a:spcPct val="100000"/>
              </a:lnSpc>
              <a:buNone/>
            </a:pPr>
            <a:r>
              <a:rPr lang="en-GB" sz="1600" dirty="0">
                <a:solidFill>
                  <a:schemeClr val="bg1"/>
                </a:solidFill>
                <a:latin typeface="Microsoft Sans Serif" panose="020B0604020202020204" pitchFamily="34" charset="0"/>
                <a:cs typeface="Microsoft Sans Serif" panose="020B0604020202020204" pitchFamily="34" charset="0"/>
              </a:rPr>
              <a:t>5. </a:t>
            </a:r>
            <a:r>
              <a:rPr lang="en-GB" sz="1600" b="0" i="0" u="none" strike="noStrike" dirty="0">
                <a:solidFill>
                  <a:schemeClr val="bg1"/>
                </a:solidFill>
                <a:effectLst/>
                <a:latin typeface="Microsoft Sans Serif" panose="020B0604020202020204" pitchFamily="34" charset="0"/>
                <a:cs typeface="Microsoft Sans Serif" panose="020B0604020202020204" pitchFamily="34" charset="0"/>
              </a:rPr>
              <a:t>Maintaining adequate inventory levels and tracking inventory movements can be a challenge for hotels.</a:t>
            </a:r>
          </a:p>
          <a:p>
            <a:pPr marL="0" indent="0" algn="l">
              <a:lnSpc>
                <a:spcPct val="100000"/>
              </a:lnSpc>
              <a:buNone/>
            </a:pPr>
            <a:endParaRPr lang="en-GB" sz="1600" dirty="0">
              <a:solidFill>
                <a:schemeClr val="bg1"/>
              </a:solidFill>
              <a:latin typeface="Microsoft Sans Serif" panose="020B0604020202020204" pitchFamily="34" charset="0"/>
              <a:cs typeface="Microsoft Sans Serif" panose="020B0604020202020204" pitchFamily="34" charset="0"/>
            </a:endParaRPr>
          </a:p>
          <a:p>
            <a:pPr marL="0" indent="0" algn="l">
              <a:lnSpc>
                <a:spcPct val="100000"/>
              </a:lnSpc>
              <a:buNone/>
            </a:pPr>
            <a:r>
              <a:rPr lang="en-GB" sz="1600" dirty="0">
                <a:solidFill>
                  <a:schemeClr val="bg1"/>
                </a:solidFill>
                <a:latin typeface="Microsoft Sans Serif" panose="020B0604020202020204" pitchFamily="34" charset="0"/>
                <a:cs typeface="Microsoft Sans Serif" panose="020B0604020202020204" pitchFamily="34" charset="0"/>
              </a:rPr>
              <a:t>6. </a:t>
            </a:r>
            <a:r>
              <a:rPr lang="en-GB" sz="1600" b="0" i="0" u="none" strike="noStrike" dirty="0">
                <a:solidFill>
                  <a:schemeClr val="bg1"/>
                </a:solidFill>
                <a:effectLst/>
                <a:latin typeface="Microsoft Sans Serif" panose="020B0604020202020204" pitchFamily="34" charset="0"/>
                <a:cs typeface="Microsoft Sans Serif" panose="020B0604020202020204" pitchFamily="34" charset="0"/>
              </a:rPr>
              <a:t>Delayed payment terms: Traditional procurement methods may involve delayed payment terms, which can negatively impact a hotel's cash flow.</a:t>
            </a:r>
          </a:p>
          <a:p>
            <a:pPr marL="0" indent="0" algn="l">
              <a:lnSpc>
                <a:spcPct val="100000"/>
              </a:lnSpc>
              <a:buNone/>
            </a:pPr>
            <a:endParaRPr lang="en-GB" sz="1600" b="0" i="0" u="none" strike="noStrike" dirty="0">
              <a:solidFill>
                <a:schemeClr val="bg1"/>
              </a:solidFill>
              <a:effectLst/>
              <a:latin typeface="Microsoft Sans Serif" panose="020B0604020202020204" pitchFamily="34" charset="0"/>
              <a:cs typeface="Microsoft Sans Serif" panose="020B0604020202020204" pitchFamily="34" charset="0"/>
            </a:endParaRPr>
          </a:p>
          <a:p>
            <a:pPr marL="0" indent="0" algn="l">
              <a:lnSpc>
                <a:spcPct val="100000"/>
              </a:lnSpc>
              <a:buNone/>
            </a:pPr>
            <a:r>
              <a:rPr lang="en-GB" sz="1600" b="0" i="0" u="none" strike="noStrike" dirty="0">
                <a:solidFill>
                  <a:schemeClr val="bg1"/>
                </a:solidFill>
                <a:effectLst/>
                <a:latin typeface="Microsoft Sans Serif" panose="020B0604020202020204" pitchFamily="34" charset="0"/>
                <a:cs typeface="Microsoft Sans Serif" panose="020B0604020202020204" pitchFamily="34" charset="0"/>
              </a:rPr>
              <a:t>7. Difficulty in achieving economies of scale: Many hotels may not have the purchasing power to achieve cost savings through bulk purchasing.</a:t>
            </a:r>
          </a:p>
          <a:p>
            <a:pPr marL="0" indent="0" algn="l">
              <a:lnSpc>
                <a:spcPct val="100000"/>
              </a:lnSpc>
              <a:buNone/>
            </a:pPr>
            <a:endParaRPr lang="en-GB" sz="1600" b="0" i="0" u="none" strike="noStrike" dirty="0">
              <a:solidFill>
                <a:schemeClr val="bg1"/>
              </a:solidFill>
              <a:effectLst/>
              <a:latin typeface="Microsoft Sans Serif" panose="020B0604020202020204" pitchFamily="34" charset="0"/>
              <a:cs typeface="Microsoft Sans Serif" panose="020B0604020202020204" pitchFamily="34" charset="0"/>
            </a:endParaRPr>
          </a:p>
          <a:p>
            <a:pPr marL="0" indent="0" algn="l">
              <a:lnSpc>
                <a:spcPct val="100000"/>
              </a:lnSpc>
              <a:buNone/>
            </a:pPr>
            <a:r>
              <a:rPr lang="en-GB" sz="1600" b="0" i="0" u="none" strike="noStrike" dirty="0">
                <a:solidFill>
                  <a:schemeClr val="bg1"/>
                </a:solidFill>
                <a:effectLst/>
                <a:latin typeface="Microsoft Sans Serif" panose="020B0604020202020204" pitchFamily="34" charset="0"/>
                <a:cs typeface="Microsoft Sans Serif" panose="020B0604020202020204" pitchFamily="34" charset="0"/>
              </a:rPr>
              <a:t>8. Lack of data and analytics: Traditional procurement methods may not provide real-time data and analytics, making it difficult for hotels to make informed purchasing decisions.</a:t>
            </a:r>
          </a:p>
          <a:p>
            <a:pPr>
              <a:lnSpc>
                <a:spcPct val="100000"/>
              </a:lnSpc>
            </a:pPr>
            <a:endParaRPr lang="en-RU" sz="1400" dirty="0"/>
          </a:p>
        </p:txBody>
      </p:sp>
      <p:pic>
        <p:nvPicPr>
          <p:cNvPr id="5" name="Image">
            <a:extLst>
              <a:ext uri="{FF2B5EF4-FFF2-40B4-BE49-F238E27FC236}">
                <a16:creationId xmlns:a16="http://schemas.microsoft.com/office/drawing/2014/main" id="{5EF6E9DC-AD3C-AF57-C3FF-D08F992EBB82}"/>
              </a:ext>
            </a:extLst>
          </p:cNvPr>
          <p:cNvPicPr>
            <a:picLocks noChangeAspect="1"/>
          </p:cNvPicPr>
          <p:nvPr/>
        </p:nvPicPr>
        <p:blipFill>
          <a:blip r:embed="rId2">
            <a:extLst>
              <a:ext uri="{28A0092B-C50C-407E-A947-70E740481C1C}">
                <a14:useLocalDpi xmlns:a14="http://schemas.microsoft.com/office/drawing/2010/main" val="0"/>
              </a:ext>
            </a:extLst>
          </a:blip>
          <a:srcRect t="1758" b="1758"/>
          <a:stretch/>
        </p:blipFill>
        <p:spPr>
          <a:xfrm>
            <a:off x="11048076" y="5667530"/>
            <a:ext cx="873176" cy="842476"/>
          </a:xfrm>
          <a:prstGeom prst="rect">
            <a:avLst/>
          </a:prstGeom>
          <a:solidFill>
            <a:schemeClr val="tx1"/>
          </a:solidFill>
          <a:ln w="12700" cap="rnd">
            <a:solidFill>
              <a:schemeClr val="accent1">
                <a:alpha val="62000"/>
              </a:schemeClr>
            </a:solidFill>
            <a:bevel/>
          </a:ln>
          <a:effectLst>
            <a:glow rad="260455">
              <a:schemeClr val="accent1">
                <a:alpha val="2204"/>
              </a:schemeClr>
            </a:glow>
            <a:outerShdw blurRad="50800" dist="50800" dir="5400000" algn="ctr" rotWithShape="0">
              <a:srgbClr val="000000"/>
            </a:outerShdw>
          </a:effectLst>
          <a:scene3d>
            <a:camera prst="orthographicFront"/>
            <a:lightRig rig="threePt" dir="t"/>
          </a:scene3d>
          <a:sp3d contourW="12700">
            <a:bevelB w="152400" h="50800" prst="softRound"/>
            <a:contourClr>
              <a:srgbClr val="D9D9D9"/>
            </a:contourClr>
          </a:sp3d>
        </p:spPr>
      </p:pic>
    </p:spTree>
    <p:extLst>
      <p:ext uri="{BB962C8B-B14F-4D97-AF65-F5344CB8AC3E}">
        <p14:creationId xmlns:p14="http://schemas.microsoft.com/office/powerpoint/2010/main" val="23582148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9C9C8F-503E-B145-F489-4AA3EBDDEB29}"/>
              </a:ext>
            </a:extLst>
          </p:cNvPr>
          <p:cNvSpPr txBox="1"/>
          <p:nvPr/>
        </p:nvSpPr>
        <p:spPr>
          <a:xfrm>
            <a:off x="0" y="1201400"/>
            <a:ext cx="12192000" cy="769441"/>
          </a:xfrm>
          <a:prstGeom prst="rect">
            <a:avLst/>
          </a:prstGeom>
          <a:noFill/>
        </p:spPr>
        <p:txBody>
          <a:bodyPr wrap="square" rtlCol="0">
            <a:spAutoFit/>
          </a:bodyPr>
          <a:lstStyle/>
          <a:p>
            <a:pPr lvl="1"/>
            <a:r>
              <a:rPr lang="en-US" sz="4400" i="0" dirty="0">
                <a:solidFill>
                  <a:srgbClr val="880002"/>
                </a:solidFill>
                <a:effectLst/>
                <a:latin typeface="Hoefler Text" panose="02030602050506020203" pitchFamily="18" charset="77"/>
              </a:rPr>
              <a:t>Hotels Vendors?</a:t>
            </a:r>
            <a:endParaRPr lang="en-EG" sz="4400" dirty="0">
              <a:solidFill>
                <a:srgbClr val="880002"/>
              </a:solidFill>
              <a:latin typeface="Hoefler Text" panose="02030602050506020203" pitchFamily="18" charset="77"/>
            </a:endParaRPr>
          </a:p>
        </p:txBody>
      </p:sp>
      <p:sp>
        <p:nvSpPr>
          <p:cNvPr id="3" name="TextBox 2">
            <a:extLst>
              <a:ext uri="{FF2B5EF4-FFF2-40B4-BE49-F238E27FC236}">
                <a16:creationId xmlns:a16="http://schemas.microsoft.com/office/drawing/2014/main" id="{3FEA4B16-6BEC-342C-871C-35CDD48D1FA9}"/>
              </a:ext>
            </a:extLst>
          </p:cNvPr>
          <p:cNvSpPr txBox="1"/>
          <p:nvPr/>
        </p:nvSpPr>
        <p:spPr>
          <a:xfrm>
            <a:off x="566113" y="2498288"/>
            <a:ext cx="7286625" cy="2585323"/>
          </a:xfrm>
          <a:prstGeom prst="rect">
            <a:avLst/>
          </a:prstGeom>
          <a:noFill/>
        </p:spPr>
        <p:txBody>
          <a:bodyPr wrap="square">
            <a:spAutoFit/>
          </a:bodyPr>
          <a:lstStyle/>
          <a:p>
            <a:r>
              <a:rPr lang="en-GB" b="0" i="0" u="none" strike="noStrike" dirty="0">
                <a:effectLst/>
                <a:latin typeface="Söhne"/>
              </a:rPr>
              <a:t>Hotels Vendors is an automated purchasing platform for the hospitality industry. It aims to streamline the procurement process for hotels by providing a multi-vendor marketplace, factoring and logistics solutions, real-time data and analytics, and a customizable and secure platform. By using Hotels Vendors, hotels can negotiate better prices, reduce inventory carrying costs, and improve cash flow through early payment terms. The mission of Hotels Vendors is to help hotels save costs and improve their bottom line by optimizing their purchasing process and stay competitive in today's economy.</a:t>
            </a:r>
            <a:endParaRPr lang="en-EG" dirty="0"/>
          </a:p>
        </p:txBody>
      </p:sp>
      <p:pic>
        <p:nvPicPr>
          <p:cNvPr id="7" name="Picture 6">
            <a:extLst>
              <a:ext uri="{FF2B5EF4-FFF2-40B4-BE49-F238E27FC236}">
                <a16:creationId xmlns:a16="http://schemas.microsoft.com/office/drawing/2014/main" id="{3462F33E-4917-88E8-CA3C-A6256F64D2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2738" y="1581150"/>
            <a:ext cx="4212261" cy="4419600"/>
          </a:xfrm>
          <a:prstGeom prst="rect">
            <a:avLst/>
          </a:prstGeom>
        </p:spPr>
      </p:pic>
      <p:pic>
        <p:nvPicPr>
          <p:cNvPr id="2" name="Image">
            <a:extLst>
              <a:ext uri="{FF2B5EF4-FFF2-40B4-BE49-F238E27FC236}">
                <a16:creationId xmlns:a16="http://schemas.microsoft.com/office/drawing/2014/main" id="{C56B0174-81D1-34AF-3BB9-95E12E9C858F}"/>
              </a:ext>
            </a:extLst>
          </p:cNvPr>
          <p:cNvPicPr>
            <a:picLocks noChangeAspect="1"/>
          </p:cNvPicPr>
          <p:nvPr/>
        </p:nvPicPr>
        <p:blipFill>
          <a:blip r:embed="rId3">
            <a:extLst>
              <a:ext uri="{28A0092B-C50C-407E-A947-70E740481C1C}">
                <a14:useLocalDpi xmlns:a14="http://schemas.microsoft.com/office/drawing/2010/main" val="0"/>
              </a:ext>
            </a:extLst>
          </a:blip>
          <a:srcRect t="1758" b="1758"/>
          <a:stretch/>
        </p:blipFill>
        <p:spPr>
          <a:xfrm>
            <a:off x="11048076" y="5667530"/>
            <a:ext cx="873176" cy="842476"/>
          </a:xfrm>
          <a:prstGeom prst="rect">
            <a:avLst/>
          </a:prstGeom>
          <a:solidFill>
            <a:schemeClr val="tx1"/>
          </a:solidFill>
          <a:ln w="12700" cap="rnd">
            <a:solidFill>
              <a:schemeClr val="accent1">
                <a:alpha val="62000"/>
              </a:schemeClr>
            </a:solidFill>
            <a:bevel/>
          </a:ln>
          <a:effectLst>
            <a:glow rad="260455">
              <a:schemeClr val="accent1">
                <a:alpha val="2204"/>
              </a:schemeClr>
            </a:glow>
            <a:outerShdw blurRad="50800" dist="50800" dir="5400000" algn="ctr" rotWithShape="0">
              <a:srgbClr val="000000"/>
            </a:outerShdw>
          </a:effectLst>
          <a:scene3d>
            <a:camera prst="orthographicFront"/>
            <a:lightRig rig="threePt" dir="t"/>
          </a:scene3d>
          <a:sp3d contourW="12700">
            <a:bevelB w="152400" h="50800" prst="softRound"/>
            <a:contourClr>
              <a:srgbClr val="D9D9D9"/>
            </a:contourClr>
          </a:sp3d>
        </p:spPr>
      </p:pic>
    </p:spTree>
    <p:extLst>
      <p:ext uri="{BB962C8B-B14F-4D97-AF65-F5344CB8AC3E}">
        <p14:creationId xmlns:p14="http://schemas.microsoft.com/office/powerpoint/2010/main" val="11674963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2ACE3-DA99-2033-B7CF-686EDBC4DCBF}"/>
              </a:ext>
            </a:extLst>
          </p:cNvPr>
          <p:cNvSpPr>
            <a:spLocks noGrp="1"/>
          </p:cNvSpPr>
          <p:nvPr>
            <p:ph type="title"/>
          </p:nvPr>
        </p:nvSpPr>
        <p:spPr>
          <a:xfrm>
            <a:off x="6019801" y="284852"/>
            <a:ext cx="5097282" cy="1325562"/>
          </a:xfrm>
          <a:solidFill>
            <a:schemeClr val="bg1"/>
          </a:solidFill>
          <a:ln w="76200">
            <a:solidFill>
              <a:srgbClr val="FFC000"/>
            </a:solidFill>
          </a:ln>
        </p:spPr>
        <p:txBody>
          <a:bodyPr/>
          <a:lstStyle/>
          <a:p>
            <a:pPr algn="ctr"/>
            <a:r>
              <a:rPr lang="en-RU" b="1" dirty="0">
                <a:solidFill>
                  <a:srgbClr val="880002"/>
                </a:solidFill>
              </a:rPr>
              <a:t>Hotels Vendors </a:t>
            </a:r>
          </a:p>
        </p:txBody>
      </p:sp>
      <p:sp>
        <p:nvSpPr>
          <p:cNvPr id="3" name="Content Placeholder 2">
            <a:extLst>
              <a:ext uri="{FF2B5EF4-FFF2-40B4-BE49-F238E27FC236}">
                <a16:creationId xmlns:a16="http://schemas.microsoft.com/office/drawing/2014/main" id="{000C383C-0858-139D-971E-725E5BF2DB04}"/>
              </a:ext>
            </a:extLst>
          </p:cNvPr>
          <p:cNvSpPr>
            <a:spLocks noGrp="1"/>
          </p:cNvSpPr>
          <p:nvPr>
            <p:ph sz="half" idx="1"/>
          </p:nvPr>
        </p:nvSpPr>
        <p:spPr>
          <a:xfrm>
            <a:off x="433468" y="1960537"/>
            <a:ext cx="5181600" cy="4245391"/>
          </a:xfr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ln w="28575">
            <a:solidFill>
              <a:srgbClr val="FFC000"/>
            </a:solidFill>
          </a:ln>
        </p:spPr>
        <p:txBody>
          <a:bodyPr>
            <a:normAutofit fontScale="85000" lnSpcReduction="20000"/>
          </a:bodyPr>
          <a:lstStyle/>
          <a:p>
            <a:pPr algn="l">
              <a:buFont typeface="Arial" panose="020B0604020202020204" pitchFamily="34" charset="0"/>
              <a:buChar char="•"/>
            </a:pPr>
            <a:endParaRPr lang="en-GB" sz="2400" b="0" i="0" u="none" strike="noStrike" dirty="0">
              <a:solidFill>
                <a:srgbClr val="C00000"/>
              </a:solidFill>
              <a:effectLst/>
              <a:latin typeface="Söhne"/>
            </a:endParaRPr>
          </a:p>
          <a:p>
            <a:pPr algn="l">
              <a:buFont typeface="Arial" panose="020B0604020202020204" pitchFamily="34" charset="0"/>
              <a:buChar char="•"/>
            </a:pPr>
            <a:r>
              <a:rPr lang="en-GB" sz="2400" b="0" i="0" u="none" strike="noStrike" dirty="0">
                <a:solidFill>
                  <a:srgbClr val="C00000"/>
                </a:solidFill>
                <a:effectLst/>
                <a:latin typeface="Microsoft Sans Serif" panose="020B0604020202020204" pitchFamily="34" charset="0"/>
                <a:cs typeface="Microsoft Sans Serif" panose="020B0604020202020204" pitchFamily="34" charset="0"/>
              </a:rPr>
              <a:t>Hotels Vendors is a powerful solution for streamlining the procurement process for hotels.</a:t>
            </a:r>
          </a:p>
          <a:p>
            <a:pPr marL="0" indent="0" algn="l">
              <a:buNone/>
            </a:pPr>
            <a:endParaRPr lang="en-GB" sz="2400" dirty="0">
              <a:solidFill>
                <a:srgbClr val="C00000"/>
              </a:solidFill>
              <a:latin typeface="Söhne"/>
            </a:endParaRPr>
          </a:p>
          <a:p>
            <a:pPr marL="0" indent="0" algn="l">
              <a:buNone/>
            </a:pPr>
            <a:endParaRPr lang="en-GB" sz="2400" b="0" i="0" u="none" strike="noStrike" dirty="0">
              <a:solidFill>
                <a:srgbClr val="C00000"/>
              </a:solidFill>
              <a:effectLst/>
              <a:latin typeface="Söhne"/>
            </a:endParaRPr>
          </a:p>
          <a:p>
            <a:pPr algn="l">
              <a:buFont typeface="Arial" panose="020B0604020202020204" pitchFamily="34" charset="0"/>
              <a:buChar char="•"/>
            </a:pPr>
            <a:r>
              <a:rPr lang="en-GB" sz="2400" b="0" i="0" u="none" strike="noStrike" dirty="0">
                <a:solidFill>
                  <a:srgbClr val="C00000"/>
                </a:solidFill>
                <a:effectLst/>
                <a:latin typeface="Microsoft Sans Serif" panose="020B0604020202020204" pitchFamily="34" charset="0"/>
                <a:cs typeface="Microsoft Sans Serif" panose="020B0604020202020204" pitchFamily="34" charset="0"/>
              </a:rPr>
              <a:t>Our platform offers a centralized location for hotels to purchase goods and services from multiple vendors, making it easy to search, compare and purchase.</a:t>
            </a:r>
          </a:p>
          <a:p>
            <a:pPr marL="0" indent="0" algn="l">
              <a:buNone/>
            </a:pPr>
            <a:endParaRPr lang="en-GB" sz="2400" b="0" i="0" u="none" strike="noStrike" dirty="0">
              <a:solidFill>
                <a:srgbClr val="C00000"/>
              </a:solidFill>
              <a:effectLst/>
              <a:latin typeface="Söhne"/>
            </a:endParaRPr>
          </a:p>
          <a:p>
            <a:pPr algn="l">
              <a:buFont typeface="Arial" panose="020B0604020202020204" pitchFamily="34" charset="0"/>
              <a:buChar char="•"/>
            </a:pPr>
            <a:r>
              <a:rPr lang="en-GB" sz="2400" b="0" i="0" u="none" strike="noStrike" dirty="0">
                <a:solidFill>
                  <a:srgbClr val="C00000"/>
                </a:solidFill>
                <a:effectLst/>
                <a:latin typeface="Microsoft Sans Serif" panose="020B0604020202020204" pitchFamily="34" charset="0"/>
                <a:cs typeface="Microsoft Sans Serif" panose="020B0604020202020204" pitchFamily="34" charset="0"/>
              </a:rPr>
              <a:t>Say goodbye to manual sourcing and negotiations with individual vendors, Hotels Vendors saves time and money.</a:t>
            </a:r>
          </a:p>
          <a:p>
            <a:endParaRPr lang="en-RU" sz="2000" dirty="0">
              <a:solidFill>
                <a:srgbClr val="C00000"/>
              </a:solidFill>
            </a:endParaRPr>
          </a:p>
        </p:txBody>
      </p:sp>
      <p:sp>
        <p:nvSpPr>
          <p:cNvPr id="4" name="Content Placeholder 3">
            <a:extLst>
              <a:ext uri="{FF2B5EF4-FFF2-40B4-BE49-F238E27FC236}">
                <a16:creationId xmlns:a16="http://schemas.microsoft.com/office/drawing/2014/main" id="{34CC3934-3971-2CE6-621A-1CB233D912FE}"/>
              </a:ext>
            </a:extLst>
          </p:cNvPr>
          <p:cNvSpPr>
            <a:spLocks noGrp="1"/>
          </p:cNvSpPr>
          <p:nvPr>
            <p:ph sz="half" idx="2"/>
          </p:nvPr>
        </p:nvSpPr>
        <p:spPr>
          <a:xfrm>
            <a:off x="6576934" y="1987343"/>
            <a:ext cx="5181600" cy="4218585"/>
          </a:xfr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ln w="28575">
            <a:solidFill>
              <a:srgbClr val="FFC000"/>
            </a:solidFill>
          </a:ln>
        </p:spPr>
        <p:txBody>
          <a:bodyPr>
            <a:normAutofit fontScale="85000" lnSpcReduction="20000"/>
          </a:bodyPr>
          <a:lstStyle/>
          <a:p>
            <a:pPr algn="l">
              <a:buFont typeface="Arial" panose="020B0604020202020204" pitchFamily="34" charset="0"/>
              <a:buChar char="•"/>
            </a:pPr>
            <a:endParaRPr lang="en-GB" sz="2400" b="0" i="0" u="none" strike="noStrike" dirty="0">
              <a:solidFill>
                <a:srgbClr val="C00000"/>
              </a:solidFill>
              <a:effectLst/>
              <a:latin typeface="Söhne"/>
            </a:endParaRPr>
          </a:p>
          <a:p>
            <a:pPr algn="l">
              <a:buFont typeface="Arial" panose="020B0604020202020204" pitchFamily="34" charset="0"/>
              <a:buChar char="•"/>
            </a:pPr>
            <a:r>
              <a:rPr lang="en-GB" sz="2400" b="0" i="0" u="none" strike="noStrike" dirty="0">
                <a:solidFill>
                  <a:srgbClr val="C00000"/>
                </a:solidFill>
                <a:effectLst/>
                <a:latin typeface="Söhne"/>
              </a:rPr>
              <a:t>By using Hotels Vendors, hotels can take control of costs and improve supplier relationships with centralized purchasing and tracking capabilities.</a:t>
            </a:r>
          </a:p>
          <a:p>
            <a:pPr marL="0" indent="0" algn="l">
              <a:buNone/>
            </a:pPr>
            <a:endParaRPr lang="en-GB" sz="2400" b="0" i="0" u="none" strike="noStrike" dirty="0">
              <a:solidFill>
                <a:srgbClr val="C00000"/>
              </a:solidFill>
              <a:effectLst/>
              <a:latin typeface="Söhne"/>
            </a:endParaRPr>
          </a:p>
          <a:p>
            <a:pPr algn="l">
              <a:buFont typeface="Arial" panose="020B0604020202020204" pitchFamily="34" charset="0"/>
              <a:buChar char="•"/>
            </a:pPr>
            <a:r>
              <a:rPr lang="en-GB" sz="2400" b="0" i="0" u="none" strike="noStrike" dirty="0">
                <a:solidFill>
                  <a:srgbClr val="C00000"/>
                </a:solidFill>
                <a:effectLst/>
                <a:latin typeface="Söhne"/>
              </a:rPr>
              <a:t>Our solution offers a more efficient and cost-effective way for hotels to manage their procurement needs.</a:t>
            </a:r>
          </a:p>
          <a:p>
            <a:pPr marL="0" indent="0" algn="l">
              <a:buNone/>
            </a:pPr>
            <a:endParaRPr lang="en-GB" sz="2400" b="0" i="0" u="none" strike="noStrike" dirty="0">
              <a:solidFill>
                <a:srgbClr val="C00000"/>
              </a:solidFill>
              <a:effectLst/>
              <a:latin typeface="Söhne"/>
            </a:endParaRPr>
          </a:p>
          <a:p>
            <a:pPr marL="0" indent="0" algn="l">
              <a:buNone/>
            </a:pPr>
            <a:endParaRPr lang="en-GB" sz="2400" b="0" i="0" u="none" strike="noStrike" dirty="0">
              <a:solidFill>
                <a:srgbClr val="C00000"/>
              </a:solidFill>
              <a:effectLst/>
              <a:latin typeface="Söhne"/>
            </a:endParaRPr>
          </a:p>
          <a:p>
            <a:pPr algn="l">
              <a:buFont typeface="Arial" panose="020B0604020202020204" pitchFamily="34" charset="0"/>
              <a:buChar char="•"/>
            </a:pPr>
            <a:r>
              <a:rPr lang="en-GB" sz="2400" b="0" i="0" u="none" strike="noStrike" dirty="0">
                <a:solidFill>
                  <a:srgbClr val="C00000"/>
                </a:solidFill>
                <a:effectLst/>
                <a:latin typeface="Söhne"/>
              </a:rPr>
              <a:t>With Hotels Vendors, hotels can focus on providing the best service to their guests, while we handle the procurement process for them.</a:t>
            </a:r>
          </a:p>
          <a:p>
            <a:pPr marL="0" indent="0">
              <a:buNone/>
            </a:pPr>
            <a:endParaRPr lang="en-RU" dirty="0">
              <a:solidFill>
                <a:srgbClr val="C00000"/>
              </a:solidFill>
            </a:endParaRPr>
          </a:p>
        </p:txBody>
      </p:sp>
      <p:pic>
        <p:nvPicPr>
          <p:cNvPr id="10" name="Picture 9">
            <a:extLst>
              <a:ext uri="{FF2B5EF4-FFF2-40B4-BE49-F238E27FC236}">
                <a16:creationId xmlns:a16="http://schemas.microsoft.com/office/drawing/2014/main" id="{5EB91B0B-D491-51BF-10DF-B6712A95A64E}"/>
              </a:ext>
            </a:extLst>
          </p:cNvPr>
          <p:cNvPicPr>
            <a:picLocks noChangeAspect="1"/>
          </p:cNvPicPr>
          <p:nvPr/>
        </p:nvPicPr>
        <p:blipFill>
          <a:blip r:embed="rId2">
            <a:alphaModFix/>
            <a:duotone>
              <a:schemeClr val="bg2">
                <a:shade val="45000"/>
                <a:satMod val="135000"/>
              </a:schemeClr>
              <a:prstClr val="white"/>
            </a:duotone>
            <a:extLst>
              <a:ext uri="{BEBA8EAE-BF5A-486C-A8C5-ECC9F3942E4B}">
                <a14:imgProps xmlns:a14="http://schemas.microsoft.com/office/drawing/2010/main">
                  <a14:imgLayer r:embed="rId3">
                    <a14:imgEffect>
                      <a14:colorTemperature colorTemp="7322"/>
                    </a14:imgEffect>
                    <a14:imgEffect>
                      <a14:saturation sat="67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876922" y="284851"/>
            <a:ext cx="5382718" cy="1325563"/>
          </a:xfrm>
          <a:prstGeom prst="rect">
            <a:avLst/>
          </a:prstGeom>
          <a:ln w="76200">
            <a:noFill/>
          </a:ln>
        </p:spPr>
      </p:pic>
      <p:pic>
        <p:nvPicPr>
          <p:cNvPr id="12" name="Picture 11">
            <a:extLst>
              <a:ext uri="{FF2B5EF4-FFF2-40B4-BE49-F238E27FC236}">
                <a16:creationId xmlns:a16="http://schemas.microsoft.com/office/drawing/2014/main" id="{C1616EFE-449C-51E6-6505-CEA0C9534CAC}"/>
              </a:ext>
            </a:extLst>
          </p:cNvPr>
          <p:cNvPicPr>
            <a:picLocks noChangeAspect="1"/>
          </p:cNvPicPr>
          <p:nvPr/>
        </p:nvPicPr>
        <p:blipFill>
          <a:blip r:embed="rId5">
            <a:alphaModFix amt="52000"/>
            <a:extLst>
              <a:ext uri="{BEBA8EAE-BF5A-486C-A8C5-ECC9F3942E4B}">
                <a14:imgProps xmlns:a14="http://schemas.microsoft.com/office/drawing/2010/main">
                  <a14:imgLayer r:embed="rId6">
                    <a14:imgEffect>
                      <a14:colorTemperature colorTemp="3998"/>
                    </a14:imgEffect>
                    <a14:imgEffect>
                      <a14:saturation sat="332000"/>
                    </a14:imgEffect>
                  </a14:imgLayer>
                </a14:imgProps>
              </a:ext>
              <a:ext uri="{28A0092B-C50C-407E-A947-70E740481C1C}">
                <a14:useLocalDpi xmlns:a14="http://schemas.microsoft.com/office/drawing/2010/main" val="0"/>
              </a:ext>
            </a:extLst>
          </a:blip>
          <a:stretch>
            <a:fillRect/>
          </a:stretch>
        </p:blipFill>
        <p:spPr>
          <a:xfrm>
            <a:off x="906902" y="314830"/>
            <a:ext cx="1251681" cy="1199176"/>
          </a:xfrm>
          <a:prstGeom prst="rect">
            <a:avLst/>
          </a:prstGeom>
          <a:effectLst>
            <a:glow>
              <a:schemeClr val="accent1">
                <a:alpha val="0"/>
              </a:schemeClr>
            </a:glow>
          </a:effectLst>
          <a:scene3d>
            <a:camera prst="orthographicFront"/>
            <a:lightRig rig="threePt" dir="t"/>
          </a:scene3d>
          <a:sp3d>
            <a:bevelT w="101600" prst="riblet"/>
          </a:sp3d>
        </p:spPr>
      </p:pic>
      <p:sp>
        <p:nvSpPr>
          <p:cNvPr id="13" name="Oval 12">
            <a:extLst>
              <a:ext uri="{FF2B5EF4-FFF2-40B4-BE49-F238E27FC236}">
                <a16:creationId xmlns:a16="http://schemas.microsoft.com/office/drawing/2014/main" id="{0EFA5380-E533-DD75-4D64-8C0988355C18}"/>
              </a:ext>
            </a:extLst>
          </p:cNvPr>
          <p:cNvSpPr/>
          <p:nvPr/>
        </p:nvSpPr>
        <p:spPr>
          <a:xfrm>
            <a:off x="6172202" y="824459"/>
            <a:ext cx="228598" cy="239843"/>
          </a:xfrm>
          <a:prstGeom prst="ellipse">
            <a:avLst/>
          </a:prstGeom>
          <a:solidFill>
            <a:srgbClr val="9411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Tree>
    <p:extLst>
      <p:ext uri="{BB962C8B-B14F-4D97-AF65-F5344CB8AC3E}">
        <p14:creationId xmlns:p14="http://schemas.microsoft.com/office/powerpoint/2010/main" val="29790501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9C9C8F-503E-B145-F489-4AA3EBDDEB29}"/>
              </a:ext>
            </a:extLst>
          </p:cNvPr>
          <p:cNvSpPr txBox="1"/>
          <p:nvPr/>
        </p:nvSpPr>
        <p:spPr>
          <a:xfrm>
            <a:off x="0" y="1372850"/>
            <a:ext cx="12192000" cy="769441"/>
          </a:xfrm>
          <a:prstGeom prst="rect">
            <a:avLst/>
          </a:prstGeom>
          <a:noFill/>
        </p:spPr>
        <p:txBody>
          <a:bodyPr wrap="square" rtlCol="0">
            <a:spAutoFit/>
          </a:bodyPr>
          <a:lstStyle/>
          <a:p>
            <a:pPr lvl="1"/>
            <a:r>
              <a:rPr lang="en-US" sz="4400" b="1" dirty="0">
                <a:solidFill>
                  <a:schemeClr val="tx1">
                    <a:lumMod val="65000"/>
                    <a:lumOff val="35000"/>
                  </a:schemeClr>
                </a:solidFill>
                <a:latin typeface="museo-sans"/>
              </a:rPr>
              <a:t>4</a:t>
            </a:r>
            <a:r>
              <a:rPr lang="en-US" sz="4400" b="1" i="0" dirty="0">
                <a:solidFill>
                  <a:schemeClr val="tx1">
                    <a:lumMod val="65000"/>
                    <a:lumOff val="35000"/>
                  </a:schemeClr>
                </a:solidFill>
                <a:effectLst/>
                <a:latin typeface="museo-sans"/>
              </a:rPr>
              <a:t> Reasons Hotels Vendors is Different</a:t>
            </a:r>
            <a:endParaRPr lang="en-EG" sz="4400" dirty="0">
              <a:solidFill>
                <a:schemeClr val="tx1">
                  <a:lumMod val="65000"/>
                  <a:lumOff val="35000"/>
                </a:schemeClr>
              </a:solidFill>
            </a:endParaRPr>
          </a:p>
        </p:txBody>
      </p:sp>
      <p:sp>
        <p:nvSpPr>
          <p:cNvPr id="8" name="TextBox 7">
            <a:extLst>
              <a:ext uri="{FF2B5EF4-FFF2-40B4-BE49-F238E27FC236}">
                <a16:creationId xmlns:a16="http://schemas.microsoft.com/office/drawing/2014/main" id="{B426085A-A992-EC9B-61BC-3D82E1E66A2D}"/>
              </a:ext>
            </a:extLst>
          </p:cNvPr>
          <p:cNvSpPr txBox="1"/>
          <p:nvPr/>
        </p:nvSpPr>
        <p:spPr>
          <a:xfrm>
            <a:off x="504615" y="2541482"/>
            <a:ext cx="2045496" cy="400110"/>
          </a:xfrm>
          <a:prstGeom prst="rect">
            <a:avLst/>
          </a:prstGeom>
          <a:noFill/>
        </p:spPr>
        <p:txBody>
          <a:bodyPr wrap="none" rtlCol="0">
            <a:spAutoFit/>
          </a:bodyPr>
          <a:lstStyle/>
          <a:p>
            <a:r>
              <a:rPr lang="en-US" sz="2000" b="1" dirty="0">
                <a:solidFill>
                  <a:srgbClr val="880002"/>
                </a:solidFill>
              </a:rPr>
              <a:t>COMPREHENSIVE</a:t>
            </a:r>
            <a:endParaRPr lang="en-EG" sz="2000" b="1" dirty="0">
              <a:solidFill>
                <a:srgbClr val="880002"/>
              </a:solidFill>
            </a:endParaRPr>
          </a:p>
        </p:txBody>
      </p:sp>
      <p:sp>
        <p:nvSpPr>
          <p:cNvPr id="9" name="TextBox 8">
            <a:extLst>
              <a:ext uri="{FF2B5EF4-FFF2-40B4-BE49-F238E27FC236}">
                <a16:creationId xmlns:a16="http://schemas.microsoft.com/office/drawing/2014/main" id="{32FC7A67-D851-53AF-E9A2-274BAD5C6F7F}"/>
              </a:ext>
            </a:extLst>
          </p:cNvPr>
          <p:cNvSpPr txBox="1"/>
          <p:nvPr/>
        </p:nvSpPr>
        <p:spPr>
          <a:xfrm>
            <a:off x="3409418" y="2556646"/>
            <a:ext cx="1882503" cy="400110"/>
          </a:xfrm>
          <a:prstGeom prst="rect">
            <a:avLst/>
          </a:prstGeom>
          <a:noFill/>
        </p:spPr>
        <p:txBody>
          <a:bodyPr wrap="none" rtlCol="0">
            <a:spAutoFit/>
          </a:bodyPr>
          <a:lstStyle/>
          <a:p>
            <a:r>
              <a:rPr lang="en-US" sz="2000" b="1" dirty="0">
                <a:solidFill>
                  <a:srgbClr val="880002"/>
                </a:solidFill>
              </a:rPr>
              <a:t>TRANSPARENCY</a:t>
            </a:r>
            <a:endParaRPr lang="en-EG" sz="2000" b="1" dirty="0">
              <a:solidFill>
                <a:srgbClr val="880002"/>
              </a:solidFill>
            </a:endParaRPr>
          </a:p>
        </p:txBody>
      </p:sp>
      <p:sp>
        <p:nvSpPr>
          <p:cNvPr id="10" name="TextBox 9">
            <a:extLst>
              <a:ext uri="{FF2B5EF4-FFF2-40B4-BE49-F238E27FC236}">
                <a16:creationId xmlns:a16="http://schemas.microsoft.com/office/drawing/2014/main" id="{130ADA3A-7E0C-A8B8-BF86-EA139F7728BD}"/>
              </a:ext>
            </a:extLst>
          </p:cNvPr>
          <p:cNvSpPr txBox="1"/>
          <p:nvPr/>
        </p:nvSpPr>
        <p:spPr>
          <a:xfrm>
            <a:off x="6302771" y="2541482"/>
            <a:ext cx="1726755" cy="400110"/>
          </a:xfrm>
          <a:prstGeom prst="rect">
            <a:avLst/>
          </a:prstGeom>
          <a:noFill/>
        </p:spPr>
        <p:txBody>
          <a:bodyPr wrap="none" rtlCol="0">
            <a:spAutoFit/>
          </a:bodyPr>
          <a:lstStyle/>
          <a:p>
            <a:r>
              <a:rPr lang="en-US" sz="2000" b="1" dirty="0">
                <a:solidFill>
                  <a:srgbClr val="880002"/>
                </a:solidFill>
              </a:rPr>
              <a:t>USER-CENTRIC</a:t>
            </a:r>
            <a:endParaRPr lang="en-EG" sz="2000" b="1" dirty="0">
              <a:solidFill>
                <a:srgbClr val="880002"/>
              </a:solidFill>
            </a:endParaRPr>
          </a:p>
        </p:txBody>
      </p:sp>
      <p:sp>
        <p:nvSpPr>
          <p:cNvPr id="11" name="TextBox 10">
            <a:extLst>
              <a:ext uri="{FF2B5EF4-FFF2-40B4-BE49-F238E27FC236}">
                <a16:creationId xmlns:a16="http://schemas.microsoft.com/office/drawing/2014/main" id="{F3A4FB30-B0CA-DE74-1409-469136377DCA}"/>
              </a:ext>
            </a:extLst>
          </p:cNvPr>
          <p:cNvSpPr txBox="1"/>
          <p:nvPr/>
        </p:nvSpPr>
        <p:spPr>
          <a:xfrm>
            <a:off x="8979967" y="2560532"/>
            <a:ext cx="1185261" cy="400110"/>
          </a:xfrm>
          <a:prstGeom prst="rect">
            <a:avLst/>
          </a:prstGeom>
          <a:noFill/>
        </p:spPr>
        <p:txBody>
          <a:bodyPr wrap="none" rtlCol="0">
            <a:spAutoFit/>
          </a:bodyPr>
          <a:lstStyle/>
          <a:p>
            <a:r>
              <a:rPr lang="en-US" sz="2000" b="1" dirty="0">
                <a:solidFill>
                  <a:srgbClr val="880002"/>
                </a:solidFill>
              </a:rPr>
              <a:t>INSIGHTS</a:t>
            </a:r>
            <a:endParaRPr lang="en-EG" sz="2000" b="1" dirty="0">
              <a:solidFill>
                <a:srgbClr val="880002"/>
              </a:solidFill>
            </a:endParaRPr>
          </a:p>
        </p:txBody>
      </p:sp>
      <p:sp>
        <p:nvSpPr>
          <p:cNvPr id="14" name="TextBox 13">
            <a:extLst>
              <a:ext uri="{FF2B5EF4-FFF2-40B4-BE49-F238E27FC236}">
                <a16:creationId xmlns:a16="http://schemas.microsoft.com/office/drawing/2014/main" id="{C26D2E66-88C9-AE00-23E9-D9084F339463}"/>
              </a:ext>
            </a:extLst>
          </p:cNvPr>
          <p:cNvSpPr txBox="1"/>
          <p:nvPr/>
        </p:nvSpPr>
        <p:spPr>
          <a:xfrm>
            <a:off x="504615" y="2960642"/>
            <a:ext cx="2505285" cy="2062103"/>
          </a:xfrm>
          <a:prstGeom prst="rect">
            <a:avLst/>
          </a:prstGeom>
          <a:noFill/>
        </p:spPr>
        <p:txBody>
          <a:bodyPr wrap="square">
            <a:spAutoFit/>
          </a:bodyPr>
          <a:lstStyle/>
          <a:p>
            <a:r>
              <a:rPr lang="en-US" sz="1600" dirty="0">
                <a:solidFill>
                  <a:schemeClr val="tx1">
                    <a:lumMod val="50000"/>
                    <a:lumOff val="50000"/>
                  </a:schemeClr>
                </a:solidFill>
              </a:rPr>
              <a:t>We take a comprehensive approach to spend management with a unified platform that allows you to see all your spend in one place. No matter what our customers need, we have a solution for them.</a:t>
            </a:r>
            <a:endParaRPr lang="en-EG" sz="1600" dirty="0">
              <a:solidFill>
                <a:schemeClr val="tx1">
                  <a:lumMod val="50000"/>
                  <a:lumOff val="50000"/>
                </a:schemeClr>
              </a:solidFill>
            </a:endParaRPr>
          </a:p>
        </p:txBody>
      </p:sp>
      <p:sp>
        <p:nvSpPr>
          <p:cNvPr id="16" name="TextBox 15">
            <a:extLst>
              <a:ext uri="{FF2B5EF4-FFF2-40B4-BE49-F238E27FC236}">
                <a16:creationId xmlns:a16="http://schemas.microsoft.com/office/drawing/2014/main" id="{A181AB41-923D-FBD0-943F-76EA3CC34EAB}"/>
              </a:ext>
            </a:extLst>
          </p:cNvPr>
          <p:cNvSpPr txBox="1"/>
          <p:nvPr/>
        </p:nvSpPr>
        <p:spPr>
          <a:xfrm>
            <a:off x="3409418" y="2956756"/>
            <a:ext cx="2277013" cy="3539430"/>
          </a:xfrm>
          <a:prstGeom prst="rect">
            <a:avLst/>
          </a:prstGeom>
          <a:noFill/>
        </p:spPr>
        <p:txBody>
          <a:bodyPr wrap="square">
            <a:spAutoFit/>
          </a:bodyPr>
          <a:lstStyle/>
          <a:p>
            <a:r>
              <a:rPr lang="en-US" sz="1600" dirty="0">
                <a:solidFill>
                  <a:schemeClr val="tx1">
                    <a:lumMod val="50000"/>
                    <a:lumOff val="50000"/>
                  </a:schemeClr>
                </a:solidFill>
              </a:rPr>
              <a:t>We believe in being open, always. We build trust through transparency, support genuine partnerships, and welcome new ideas. With a focus on strengthening relationships with suppliers to integrating with leading technologies and providing a healthy competitive market.</a:t>
            </a:r>
          </a:p>
        </p:txBody>
      </p:sp>
      <p:sp>
        <p:nvSpPr>
          <p:cNvPr id="17" name="TextBox 16">
            <a:extLst>
              <a:ext uri="{FF2B5EF4-FFF2-40B4-BE49-F238E27FC236}">
                <a16:creationId xmlns:a16="http://schemas.microsoft.com/office/drawing/2014/main" id="{38F9C6AF-B8D7-ED23-9E59-7D01B333D33B}"/>
              </a:ext>
            </a:extLst>
          </p:cNvPr>
          <p:cNvSpPr txBox="1"/>
          <p:nvPr/>
        </p:nvSpPr>
        <p:spPr>
          <a:xfrm>
            <a:off x="6302771" y="2956756"/>
            <a:ext cx="2277013" cy="3046988"/>
          </a:xfrm>
          <a:prstGeom prst="rect">
            <a:avLst/>
          </a:prstGeom>
          <a:noFill/>
        </p:spPr>
        <p:txBody>
          <a:bodyPr wrap="square">
            <a:spAutoFit/>
          </a:bodyPr>
          <a:lstStyle/>
          <a:p>
            <a:r>
              <a:rPr lang="en-US" sz="1600" dirty="0">
                <a:solidFill>
                  <a:schemeClr val="tx1">
                    <a:lumMod val="50000"/>
                    <a:lumOff val="50000"/>
                  </a:schemeClr>
                </a:solidFill>
              </a:rPr>
              <a:t>Easy for every user in your organization to</a:t>
            </a:r>
          </a:p>
          <a:p>
            <a:r>
              <a:rPr lang="en-US" sz="1600" dirty="0">
                <a:solidFill>
                  <a:schemeClr val="tx1">
                    <a:lumMod val="50000"/>
                    <a:lumOff val="50000"/>
                  </a:schemeClr>
                </a:solidFill>
              </a:rPr>
              <a:t>get things done fast. From Forecasting Procurement needs and supplies shortages to search suppliers and creating POs our</a:t>
            </a:r>
          </a:p>
          <a:p>
            <a:r>
              <a:rPr lang="en-US" sz="1600" dirty="0">
                <a:solidFill>
                  <a:schemeClr val="tx1">
                    <a:lumMod val="50000"/>
                    <a:lumOff val="50000"/>
                  </a:schemeClr>
                </a:solidFill>
              </a:rPr>
              <a:t>customers can often be up and running on the platform within </a:t>
            </a:r>
          </a:p>
          <a:p>
            <a:r>
              <a:rPr lang="en-US" sz="1600" dirty="0">
                <a:solidFill>
                  <a:schemeClr val="tx1">
                    <a:lumMod val="50000"/>
                    <a:lumOff val="50000"/>
                  </a:schemeClr>
                </a:solidFill>
              </a:rPr>
              <a:t>minutes. </a:t>
            </a:r>
          </a:p>
        </p:txBody>
      </p:sp>
      <p:sp>
        <p:nvSpPr>
          <p:cNvPr id="18" name="TextBox 17">
            <a:extLst>
              <a:ext uri="{FF2B5EF4-FFF2-40B4-BE49-F238E27FC236}">
                <a16:creationId xmlns:a16="http://schemas.microsoft.com/office/drawing/2014/main" id="{906D8008-68F2-4C88-B698-3D7B1B844F00}"/>
              </a:ext>
            </a:extLst>
          </p:cNvPr>
          <p:cNvSpPr txBox="1"/>
          <p:nvPr/>
        </p:nvSpPr>
        <p:spPr>
          <a:xfrm>
            <a:off x="8979967" y="2956756"/>
            <a:ext cx="2277013" cy="2308324"/>
          </a:xfrm>
          <a:prstGeom prst="rect">
            <a:avLst/>
          </a:prstGeom>
          <a:noFill/>
        </p:spPr>
        <p:txBody>
          <a:bodyPr wrap="square" rtlCol="0">
            <a:spAutoFit/>
          </a:bodyPr>
          <a:lstStyle/>
          <a:p>
            <a:r>
              <a:rPr lang="en-US" sz="1600" dirty="0">
                <a:solidFill>
                  <a:schemeClr val="tx1">
                    <a:lumMod val="50000"/>
                    <a:lumOff val="50000"/>
                  </a:schemeClr>
                </a:solidFill>
              </a:rPr>
              <a:t>We’re smarter together, which is why we help our customers be more effective in managing their spend by offering prescriptive recommendations, from savings opportunities to supplier insights</a:t>
            </a:r>
            <a:endParaRPr lang="en-EG" sz="1600" dirty="0">
              <a:solidFill>
                <a:schemeClr val="tx1">
                  <a:lumMod val="50000"/>
                  <a:lumOff val="50000"/>
                </a:schemeClr>
              </a:solidFill>
            </a:endParaRPr>
          </a:p>
        </p:txBody>
      </p:sp>
      <p:pic>
        <p:nvPicPr>
          <p:cNvPr id="2" name="Image">
            <a:extLst>
              <a:ext uri="{FF2B5EF4-FFF2-40B4-BE49-F238E27FC236}">
                <a16:creationId xmlns:a16="http://schemas.microsoft.com/office/drawing/2014/main" id="{EDA8986C-CF0B-255A-E3F2-19E53633C732}"/>
              </a:ext>
            </a:extLst>
          </p:cNvPr>
          <p:cNvPicPr>
            <a:picLocks noChangeAspect="1"/>
          </p:cNvPicPr>
          <p:nvPr/>
        </p:nvPicPr>
        <p:blipFill>
          <a:blip r:embed="rId2">
            <a:extLst>
              <a:ext uri="{28A0092B-C50C-407E-A947-70E740481C1C}">
                <a14:useLocalDpi xmlns:a14="http://schemas.microsoft.com/office/drawing/2010/main" val="0"/>
              </a:ext>
            </a:extLst>
          </a:blip>
          <a:srcRect t="1758" b="1758"/>
          <a:stretch/>
        </p:blipFill>
        <p:spPr>
          <a:xfrm>
            <a:off x="11048076" y="5667530"/>
            <a:ext cx="873176" cy="842476"/>
          </a:xfrm>
          <a:prstGeom prst="rect">
            <a:avLst/>
          </a:prstGeom>
          <a:solidFill>
            <a:schemeClr val="tx1"/>
          </a:solidFill>
          <a:ln w="12700" cap="rnd">
            <a:solidFill>
              <a:schemeClr val="accent1">
                <a:alpha val="62000"/>
              </a:schemeClr>
            </a:solidFill>
            <a:bevel/>
          </a:ln>
          <a:effectLst>
            <a:glow rad="260455">
              <a:schemeClr val="accent1">
                <a:alpha val="2204"/>
              </a:schemeClr>
            </a:glow>
            <a:outerShdw blurRad="50800" dist="50800" dir="5400000" algn="ctr" rotWithShape="0">
              <a:srgbClr val="000000"/>
            </a:outerShdw>
          </a:effectLst>
          <a:scene3d>
            <a:camera prst="orthographicFront"/>
            <a:lightRig rig="threePt" dir="t"/>
          </a:scene3d>
          <a:sp3d contourW="12700">
            <a:bevelB w="152400" h="50800" prst="softRound"/>
            <a:contourClr>
              <a:srgbClr val="D9D9D9"/>
            </a:contourClr>
          </a:sp3d>
        </p:spPr>
      </p:pic>
    </p:spTree>
    <p:extLst>
      <p:ext uri="{BB962C8B-B14F-4D97-AF65-F5344CB8AC3E}">
        <p14:creationId xmlns:p14="http://schemas.microsoft.com/office/powerpoint/2010/main" val="18120936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ontact Financial Holding | LinkedIn">
            <a:extLst>
              <a:ext uri="{FF2B5EF4-FFF2-40B4-BE49-F238E27FC236}">
                <a16:creationId xmlns:a16="http://schemas.microsoft.com/office/drawing/2014/main" id="{0E4143EF-80DB-24E5-BCD4-1BF81BD035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0150" y="311150"/>
            <a:ext cx="2540000" cy="2540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8ED888B-AE11-4B6D-10F1-B568A2B55FC2}"/>
              </a:ext>
            </a:extLst>
          </p:cNvPr>
          <p:cNvSpPr txBox="1"/>
          <p:nvPr/>
        </p:nvSpPr>
        <p:spPr>
          <a:xfrm>
            <a:off x="8845550" y="2170032"/>
            <a:ext cx="2514600" cy="3892732"/>
          </a:xfrm>
          <a:prstGeom prst="rect">
            <a:avLst/>
          </a:prstGeom>
          <a:noFill/>
        </p:spPr>
        <p:txBody>
          <a:bodyPr wrap="square">
            <a:spAutoFit/>
          </a:bodyPr>
          <a:lstStyle/>
          <a:p>
            <a:pPr algn="ctr">
              <a:lnSpc>
                <a:spcPct val="200000"/>
              </a:lnSpc>
            </a:pPr>
            <a:r>
              <a:rPr lang="en-US" dirty="0">
                <a:solidFill>
                  <a:schemeClr val="bg1">
                    <a:lumMod val="75000"/>
                  </a:schemeClr>
                </a:solidFill>
              </a:rPr>
              <a:t>Source to Pay </a:t>
            </a:r>
          </a:p>
          <a:p>
            <a:pPr algn="ctr">
              <a:lnSpc>
                <a:spcPct val="200000"/>
              </a:lnSpc>
            </a:pPr>
            <a:r>
              <a:rPr lang="en-US" dirty="0">
                <a:solidFill>
                  <a:schemeClr val="bg1">
                    <a:lumMod val="75000"/>
                  </a:schemeClr>
                </a:solidFill>
              </a:rPr>
              <a:t>Inventory Management</a:t>
            </a:r>
          </a:p>
          <a:p>
            <a:pPr algn="ctr">
              <a:lnSpc>
                <a:spcPct val="200000"/>
              </a:lnSpc>
            </a:pPr>
            <a:r>
              <a:rPr lang="en-US" dirty="0">
                <a:solidFill>
                  <a:schemeClr val="bg1">
                    <a:lumMod val="65000"/>
                  </a:schemeClr>
                </a:solidFill>
              </a:rPr>
              <a:t> Supply Chain </a:t>
            </a:r>
          </a:p>
          <a:p>
            <a:pPr algn="ctr">
              <a:lnSpc>
                <a:spcPct val="200000"/>
              </a:lnSpc>
            </a:pPr>
            <a:r>
              <a:rPr lang="en-US" dirty="0">
                <a:solidFill>
                  <a:schemeClr val="bg1">
                    <a:lumMod val="50000"/>
                  </a:schemeClr>
                </a:solidFill>
              </a:rPr>
              <a:t>Design &amp; Planning </a:t>
            </a:r>
            <a:r>
              <a:rPr lang="en-US" dirty="0">
                <a:solidFill>
                  <a:schemeClr val="tx1">
                    <a:lumMod val="50000"/>
                    <a:lumOff val="50000"/>
                  </a:schemeClr>
                </a:solidFill>
              </a:rPr>
              <a:t>Cashflow &amp; Payments </a:t>
            </a:r>
            <a:r>
              <a:rPr lang="en-US" dirty="0">
                <a:solidFill>
                  <a:schemeClr val="tx1">
                    <a:lumMod val="65000"/>
                    <a:lumOff val="35000"/>
                  </a:schemeClr>
                </a:solidFill>
              </a:rPr>
              <a:t>Risk &amp; Compliance </a:t>
            </a:r>
            <a:r>
              <a:rPr lang="en-US" dirty="0">
                <a:solidFill>
                  <a:schemeClr val="tx1">
                    <a:lumMod val="75000"/>
                    <a:lumOff val="25000"/>
                  </a:schemeClr>
                </a:solidFill>
              </a:rPr>
              <a:t>Platform</a:t>
            </a:r>
            <a:endParaRPr lang="en-EG" dirty="0">
              <a:solidFill>
                <a:schemeClr val="tx1">
                  <a:lumMod val="75000"/>
                  <a:lumOff val="25000"/>
                </a:schemeClr>
              </a:solidFill>
            </a:endParaRPr>
          </a:p>
        </p:txBody>
      </p:sp>
      <p:sp>
        <p:nvSpPr>
          <p:cNvPr id="5" name="TextBox 4">
            <a:extLst>
              <a:ext uri="{FF2B5EF4-FFF2-40B4-BE49-F238E27FC236}">
                <a16:creationId xmlns:a16="http://schemas.microsoft.com/office/drawing/2014/main" id="{AEA4ED1D-16AC-41E9-7AD1-299D4C051723}"/>
              </a:ext>
            </a:extLst>
          </p:cNvPr>
          <p:cNvSpPr txBox="1"/>
          <p:nvPr/>
        </p:nvSpPr>
        <p:spPr>
          <a:xfrm>
            <a:off x="0" y="1372850"/>
            <a:ext cx="12192000" cy="769441"/>
          </a:xfrm>
          <a:prstGeom prst="rect">
            <a:avLst/>
          </a:prstGeom>
          <a:noFill/>
        </p:spPr>
        <p:txBody>
          <a:bodyPr wrap="square" rtlCol="0">
            <a:spAutoFit/>
          </a:bodyPr>
          <a:lstStyle/>
          <a:p>
            <a:pPr lvl="1"/>
            <a:r>
              <a:rPr lang="en-US" sz="4400" b="1" dirty="0">
                <a:solidFill>
                  <a:schemeClr val="tx1">
                    <a:lumMod val="65000"/>
                    <a:lumOff val="35000"/>
                  </a:schemeClr>
                </a:solidFill>
                <a:latin typeface="museo-sans"/>
              </a:rPr>
              <a:t>Digitally Transforming Logistics</a:t>
            </a:r>
            <a:endParaRPr lang="en-EG" sz="4400" dirty="0">
              <a:solidFill>
                <a:schemeClr val="tx1">
                  <a:lumMod val="65000"/>
                  <a:lumOff val="35000"/>
                </a:schemeClr>
              </a:solidFill>
            </a:endParaRPr>
          </a:p>
        </p:txBody>
      </p:sp>
      <p:sp>
        <p:nvSpPr>
          <p:cNvPr id="6" name="TextBox 5">
            <a:extLst>
              <a:ext uri="{FF2B5EF4-FFF2-40B4-BE49-F238E27FC236}">
                <a16:creationId xmlns:a16="http://schemas.microsoft.com/office/drawing/2014/main" id="{664124DF-F0FD-85AA-9FCA-D1A47A56EF02}"/>
              </a:ext>
            </a:extLst>
          </p:cNvPr>
          <p:cNvSpPr txBox="1"/>
          <p:nvPr/>
        </p:nvSpPr>
        <p:spPr>
          <a:xfrm>
            <a:off x="552450" y="2438400"/>
            <a:ext cx="8020050" cy="3754874"/>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tx1">
                    <a:lumMod val="50000"/>
                    <a:lumOff val="50000"/>
                  </a:schemeClr>
                </a:solidFill>
              </a:rPr>
              <a:t>Automating the Procurement Process</a:t>
            </a:r>
          </a:p>
          <a:p>
            <a:pPr marL="285750" indent="-285750">
              <a:buFont typeface="Arial" panose="020B0604020202020204" pitchFamily="34" charset="0"/>
              <a:buChar char="•"/>
            </a:pPr>
            <a:r>
              <a:rPr lang="en-US" sz="2000" dirty="0">
                <a:solidFill>
                  <a:schemeClr val="tx1">
                    <a:lumMod val="50000"/>
                    <a:lumOff val="50000"/>
                  </a:schemeClr>
                </a:solidFill>
              </a:rPr>
              <a:t>Optimizing Inventory to Avoid Carrying Costs</a:t>
            </a:r>
          </a:p>
          <a:p>
            <a:pPr marL="285750" indent="-285750">
              <a:buFont typeface="Arial" panose="020B0604020202020204" pitchFamily="34" charset="0"/>
              <a:buChar char="•"/>
            </a:pPr>
            <a:r>
              <a:rPr lang="en-US" sz="2000" dirty="0">
                <a:solidFill>
                  <a:schemeClr val="tx1">
                    <a:lumMod val="50000"/>
                    <a:lumOff val="50000"/>
                  </a:schemeClr>
                </a:solidFill>
              </a:rPr>
              <a:t>Cash flow ( Hotels with a certain budget ) finding alternatives in prices</a:t>
            </a:r>
          </a:p>
          <a:p>
            <a:pPr marL="285750" indent="-285750">
              <a:buFont typeface="Arial" panose="020B0604020202020204" pitchFamily="34" charset="0"/>
              <a:buChar char="•"/>
            </a:pPr>
            <a:r>
              <a:rPr lang="en-US" sz="2000" dirty="0">
                <a:solidFill>
                  <a:schemeClr val="tx1">
                    <a:lumMod val="50000"/>
                    <a:lumOff val="50000"/>
                  </a:schemeClr>
                </a:solidFill>
              </a:rPr>
              <a:t>Cash flow finding cash prices and better advantage with the supplier</a:t>
            </a:r>
          </a:p>
          <a:p>
            <a:pPr marL="285750" indent="-285750">
              <a:buFont typeface="Arial" panose="020B0604020202020204" pitchFamily="34" charset="0"/>
              <a:buChar char="•"/>
            </a:pPr>
            <a:r>
              <a:rPr lang="en-US" sz="2000" dirty="0">
                <a:solidFill>
                  <a:schemeClr val="tx1">
                    <a:lumMod val="50000"/>
                    <a:lumOff val="50000"/>
                  </a:schemeClr>
                </a:solidFill>
              </a:rPr>
              <a:t>Forced competitive pricing</a:t>
            </a:r>
          </a:p>
          <a:p>
            <a:pPr marL="285750" indent="-285750">
              <a:buFont typeface="Arial" panose="020B0604020202020204" pitchFamily="34" charset="0"/>
              <a:buChar char="•"/>
            </a:pPr>
            <a:r>
              <a:rPr lang="en-US" sz="2000" dirty="0">
                <a:solidFill>
                  <a:schemeClr val="tx1">
                    <a:lumMod val="50000"/>
                    <a:lumOff val="50000"/>
                  </a:schemeClr>
                </a:solidFill>
              </a:rPr>
              <a:t>Reducing procurement costs on hotels</a:t>
            </a:r>
          </a:p>
          <a:p>
            <a:pPr marL="285750" indent="-285750">
              <a:buFont typeface="Arial" panose="020B0604020202020204" pitchFamily="34" charset="0"/>
              <a:buChar char="•"/>
            </a:pPr>
            <a:r>
              <a:rPr lang="en-US" sz="2000" dirty="0">
                <a:solidFill>
                  <a:schemeClr val="tx1">
                    <a:lumMod val="50000"/>
                    <a:lumOff val="50000"/>
                  </a:schemeClr>
                </a:solidFill>
              </a:rPr>
              <a:t>Reducing sales and marketing costs</a:t>
            </a:r>
          </a:p>
          <a:p>
            <a:pPr marL="285750" indent="-285750">
              <a:buFont typeface="Arial" panose="020B0604020202020204" pitchFamily="34" charset="0"/>
              <a:buChar char="•"/>
            </a:pPr>
            <a:r>
              <a:rPr lang="en-US" sz="2000" dirty="0">
                <a:solidFill>
                  <a:schemeClr val="tx1">
                    <a:lumMod val="50000"/>
                    <a:lumOff val="50000"/>
                  </a:schemeClr>
                </a:solidFill>
              </a:rPr>
              <a:t>Optimizing the logistics process</a:t>
            </a:r>
          </a:p>
          <a:p>
            <a:pPr marL="285750" indent="-285750">
              <a:buFont typeface="Arial" panose="020B0604020202020204" pitchFamily="34" charset="0"/>
              <a:buChar char="•"/>
            </a:pPr>
            <a:r>
              <a:rPr lang="en-US" sz="2000" dirty="0">
                <a:solidFill>
                  <a:schemeClr val="tx1">
                    <a:lumMod val="50000"/>
                    <a:lumOff val="50000"/>
                  </a:schemeClr>
                </a:solidFill>
              </a:rPr>
              <a:t>Digital transformation of procurement processes</a:t>
            </a:r>
          </a:p>
          <a:p>
            <a:pPr marL="285750" indent="-285750">
              <a:buFont typeface="Arial" panose="020B0604020202020204" pitchFamily="34" charset="0"/>
              <a:buChar char="•"/>
            </a:pPr>
            <a:r>
              <a:rPr lang="en-US" sz="2000" dirty="0">
                <a:solidFill>
                  <a:schemeClr val="tx1">
                    <a:lumMod val="50000"/>
                    <a:lumOff val="50000"/>
                  </a:schemeClr>
                </a:solidFill>
              </a:rPr>
              <a:t>Proper Purchase Order Approvement Cycles</a:t>
            </a:r>
          </a:p>
          <a:p>
            <a:pPr marL="285750" indent="-285750">
              <a:buFont typeface="Arial" panose="020B0604020202020204" pitchFamily="34" charset="0"/>
              <a:buChar char="•"/>
            </a:pPr>
            <a:r>
              <a:rPr lang="en-US" sz="2000" dirty="0">
                <a:solidFill>
                  <a:schemeClr val="tx1">
                    <a:lumMod val="50000"/>
                    <a:lumOff val="50000"/>
                  </a:schemeClr>
                </a:solidFill>
              </a:rPr>
              <a:t>Financing Suppliers instead of delayed payments</a:t>
            </a:r>
          </a:p>
          <a:p>
            <a:pPr marL="285750" indent="-285750">
              <a:buFont typeface="Arial" panose="020B0604020202020204" pitchFamily="34" charset="0"/>
              <a:buChar char="•"/>
            </a:pPr>
            <a:endParaRPr lang="en-EG" dirty="0"/>
          </a:p>
        </p:txBody>
      </p:sp>
    </p:spTree>
    <p:extLst>
      <p:ext uri="{BB962C8B-B14F-4D97-AF65-F5344CB8AC3E}">
        <p14:creationId xmlns:p14="http://schemas.microsoft.com/office/powerpoint/2010/main" val="29252840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A4ED1D-16AC-41E9-7AD1-299D4C051723}"/>
              </a:ext>
            </a:extLst>
          </p:cNvPr>
          <p:cNvSpPr txBox="1"/>
          <p:nvPr/>
        </p:nvSpPr>
        <p:spPr>
          <a:xfrm>
            <a:off x="0" y="1289572"/>
            <a:ext cx="12192000" cy="769441"/>
          </a:xfrm>
          <a:prstGeom prst="rect">
            <a:avLst/>
          </a:prstGeom>
          <a:noFill/>
        </p:spPr>
        <p:txBody>
          <a:bodyPr wrap="square" rtlCol="0">
            <a:spAutoFit/>
          </a:bodyPr>
          <a:lstStyle/>
          <a:p>
            <a:pPr lvl="1"/>
            <a:r>
              <a:rPr lang="en-US" sz="4400" b="1" dirty="0">
                <a:solidFill>
                  <a:schemeClr val="tx1">
                    <a:lumMod val="65000"/>
                    <a:lumOff val="35000"/>
                  </a:schemeClr>
                </a:solidFill>
                <a:latin typeface="museo-sans"/>
              </a:rPr>
              <a:t>Market </a:t>
            </a:r>
            <a:endParaRPr lang="en-EG" sz="4400" dirty="0">
              <a:solidFill>
                <a:schemeClr val="tx1">
                  <a:lumMod val="65000"/>
                  <a:lumOff val="35000"/>
                </a:schemeClr>
              </a:solidFill>
            </a:endParaRPr>
          </a:p>
        </p:txBody>
      </p:sp>
      <p:pic>
        <p:nvPicPr>
          <p:cNvPr id="3" name="Picture 2">
            <a:extLst>
              <a:ext uri="{FF2B5EF4-FFF2-40B4-BE49-F238E27FC236}">
                <a16:creationId xmlns:a16="http://schemas.microsoft.com/office/drawing/2014/main" id="{C2389E4A-5B35-8F4F-01C5-670D7EB25E4C}"/>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68541" y="2104831"/>
            <a:ext cx="7327900" cy="4711700"/>
          </a:xfrm>
          <a:prstGeom prst="rect">
            <a:avLst/>
          </a:prstGeom>
        </p:spPr>
      </p:pic>
      <p:sp>
        <p:nvSpPr>
          <p:cNvPr id="7" name="TextBox 6">
            <a:extLst>
              <a:ext uri="{FF2B5EF4-FFF2-40B4-BE49-F238E27FC236}">
                <a16:creationId xmlns:a16="http://schemas.microsoft.com/office/drawing/2014/main" id="{A5C85795-90E8-5F66-2392-603CA40E511F}"/>
              </a:ext>
            </a:extLst>
          </p:cNvPr>
          <p:cNvSpPr txBox="1"/>
          <p:nvPr/>
        </p:nvSpPr>
        <p:spPr>
          <a:xfrm>
            <a:off x="338849" y="2611620"/>
            <a:ext cx="4833057" cy="461665"/>
          </a:xfrm>
          <a:prstGeom prst="rect">
            <a:avLst/>
          </a:prstGeom>
          <a:noFill/>
        </p:spPr>
        <p:txBody>
          <a:bodyPr wrap="square" rtlCol="0">
            <a:spAutoFit/>
          </a:bodyPr>
          <a:lstStyle/>
          <a:p>
            <a:pPr lvl="1"/>
            <a:r>
              <a:rPr lang="en-US" sz="2400" b="1" dirty="0">
                <a:solidFill>
                  <a:schemeClr val="bg1">
                    <a:lumMod val="50000"/>
                  </a:schemeClr>
                </a:solidFill>
                <a:latin typeface="museo-sans"/>
              </a:rPr>
              <a:t>Egyptian Hospitality Market Size</a:t>
            </a:r>
            <a:endParaRPr lang="en-EG" sz="2400" dirty="0">
              <a:solidFill>
                <a:schemeClr val="bg1">
                  <a:lumMod val="50000"/>
                </a:schemeClr>
              </a:solidFill>
            </a:endParaRPr>
          </a:p>
        </p:txBody>
      </p:sp>
      <p:sp>
        <p:nvSpPr>
          <p:cNvPr id="8" name="TextBox 7">
            <a:extLst>
              <a:ext uri="{FF2B5EF4-FFF2-40B4-BE49-F238E27FC236}">
                <a16:creationId xmlns:a16="http://schemas.microsoft.com/office/drawing/2014/main" id="{B3F43994-C159-4927-C5FD-CD4590D49204}"/>
              </a:ext>
            </a:extLst>
          </p:cNvPr>
          <p:cNvSpPr txBox="1"/>
          <p:nvPr/>
        </p:nvSpPr>
        <p:spPr>
          <a:xfrm>
            <a:off x="8546643" y="880547"/>
            <a:ext cx="3031958" cy="400110"/>
          </a:xfrm>
          <a:prstGeom prst="rect">
            <a:avLst/>
          </a:prstGeom>
          <a:noFill/>
        </p:spPr>
        <p:txBody>
          <a:bodyPr wrap="square" rtlCol="0">
            <a:spAutoFit/>
          </a:bodyPr>
          <a:lstStyle/>
          <a:p>
            <a:pPr algn="r"/>
            <a:r>
              <a:rPr lang="en-US" sz="2000" b="1" dirty="0">
                <a:solidFill>
                  <a:schemeClr val="bg1">
                    <a:lumMod val="50000"/>
                  </a:schemeClr>
                </a:solidFill>
                <a:latin typeface="museo-sans"/>
              </a:rPr>
              <a:t>Estimated Market Size</a:t>
            </a:r>
            <a:endParaRPr lang="en-EG" sz="2000" dirty="0">
              <a:solidFill>
                <a:schemeClr val="bg1">
                  <a:lumMod val="50000"/>
                </a:schemeClr>
              </a:solidFill>
            </a:endParaRPr>
          </a:p>
        </p:txBody>
      </p:sp>
      <p:sp>
        <p:nvSpPr>
          <p:cNvPr id="9" name="TextBox 8">
            <a:extLst>
              <a:ext uri="{FF2B5EF4-FFF2-40B4-BE49-F238E27FC236}">
                <a16:creationId xmlns:a16="http://schemas.microsoft.com/office/drawing/2014/main" id="{ADEE2A51-0E05-CA1A-DAAF-138D5AB1FD37}"/>
              </a:ext>
            </a:extLst>
          </p:cNvPr>
          <p:cNvSpPr txBox="1"/>
          <p:nvPr/>
        </p:nvSpPr>
        <p:spPr>
          <a:xfrm>
            <a:off x="7997544" y="2181618"/>
            <a:ext cx="3581057" cy="400110"/>
          </a:xfrm>
          <a:prstGeom prst="rect">
            <a:avLst/>
          </a:prstGeom>
          <a:noFill/>
        </p:spPr>
        <p:txBody>
          <a:bodyPr wrap="square" rtlCol="0">
            <a:spAutoFit/>
          </a:bodyPr>
          <a:lstStyle/>
          <a:p>
            <a:pPr algn="r"/>
            <a:r>
              <a:rPr lang="en-EG" sz="2000" dirty="0">
                <a:solidFill>
                  <a:schemeClr val="bg1">
                    <a:lumMod val="50000"/>
                  </a:schemeClr>
                </a:solidFill>
              </a:rPr>
              <a:t>Our Target Market Share</a:t>
            </a:r>
          </a:p>
        </p:txBody>
      </p:sp>
      <p:sp>
        <p:nvSpPr>
          <p:cNvPr id="10" name="TextBox 9">
            <a:extLst>
              <a:ext uri="{FF2B5EF4-FFF2-40B4-BE49-F238E27FC236}">
                <a16:creationId xmlns:a16="http://schemas.microsoft.com/office/drawing/2014/main" id="{4E6FD627-DE0D-9CBA-FFA5-40162C704BE5}"/>
              </a:ext>
            </a:extLst>
          </p:cNvPr>
          <p:cNvSpPr txBox="1"/>
          <p:nvPr/>
        </p:nvSpPr>
        <p:spPr>
          <a:xfrm>
            <a:off x="8546643" y="1526737"/>
            <a:ext cx="3031958" cy="400110"/>
          </a:xfrm>
          <a:prstGeom prst="rect">
            <a:avLst/>
          </a:prstGeom>
          <a:noFill/>
        </p:spPr>
        <p:txBody>
          <a:bodyPr wrap="square" rtlCol="0">
            <a:spAutoFit/>
          </a:bodyPr>
          <a:lstStyle/>
          <a:p>
            <a:pPr algn="r"/>
            <a:r>
              <a:rPr lang="en-US" sz="2000" b="1" dirty="0">
                <a:solidFill>
                  <a:srgbClr val="880002"/>
                </a:solidFill>
                <a:latin typeface="museo-sans"/>
              </a:rPr>
              <a:t>1.14 B USD</a:t>
            </a:r>
            <a:endParaRPr lang="en-EG" sz="2000" dirty="0">
              <a:solidFill>
                <a:srgbClr val="880002"/>
              </a:solidFill>
            </a:endParaRPr>
          </a:p>
        </p:txBody>
      </p:sp>
      <p:sp>
        <p:nvSpPr>
          <p:cNvPr id="11" name="TextBox 10">
            <a:extLst>
              <a:ext uri="{FF2B5EF4-FFF2-40B4-BE49-F238E27FC236}">
                <a16:creationId xmlns:a16="http://schemas.microsoft.com/office/drawing/2014/main" id="{38B9881A-4943-B8D7-9F4F-1101E5C4F8A2}"/>
              </a:ext>
            </a:extLst>
          </p:cNvPr>
          <p:cNvSpPr txBox="1"/>
          <p:nvPr/>
        </p:nvSpPr>
        <p:spPr>
          <a:xfrm>
            <a:off x="8546643" y="2861493"/>
            <a:ext cx="3031958" cy="400110"/>
          </a:xfrm>
          <a:prstGeom prst="rect">
            <a:avLst/>
          </a:prstGeom>
          <a:noFill/>
        </p:spPr>
        <p:txBody>
          <a:bodyPr wrap="square" rtlCol="0">
            <a:spAutoFit/>
          </a:bodyPr>
          <a:lstStyle/>
          <a:p>
            <a:pPr algn="r"/>
            <a:r>
              <a:rPr lang="en-US" sz="2000" b="1" dirty="0">
                <a:solidFill>
                  <a:srgbClr val="880002"/>
                </a:solidFill>
                <a:latin typeface="museo-sans"/>
              </a:rPr>
              <a:t>32% Egyptian Market</a:t>
            </a:r>
            <a:endParaRPr lang="en-EG" sz="2000" dirty="0">
              <a:solidFill>
                <a:srgbClr val="880002"/>
              </a:solidFill>
            </a:endParaRPr>
          </a:p>
        </p:txBody>
      </p:sp>
      <p:sp>
        <p:nvSpPr>
          <p:cNvPr id="12" name="TextBox 11">
            <a:extLst>
              <a:ext uri="{FF2B5EF4-FFF2-40B4-BE49-F238E27FC236}">
                <a16:creationId xmlns:a16="http://schemas.microsoft.com/office/drawing/2014/main" id="{7F00B6AA-C44C-F93E-12C6-48BE922F6632}"/>
              </a:ext>
            </a:extLst>
          </p:cNvPr>
          <p:cNvSpPr txBox="1"/>
          <p:nvPr/>
        </p:nvSpPr>
        <p:spPr>
          <a:xfrm>
            <a:off x="7796463" y="3534843"/>
            <a:ext cx="3782139" cy="400110"/>
          </a:xfrm>
          <a:prstGeom prst="rect">
            <a:avLst/>
          </a:prstGeom>
          <a:noFill/>
        </p:spPr>
        <p:txBody>
          <a:bodyPr wrap="square" rtlCol="0">
            <a:spAutoFit/>
          </a:bodyPr>
          <a:lstStyle/>
          <a:p>
            <a:pPr algn="r"/>
            <a:r>
              <a:rPr lang="en-EG" sz="2000" dirty="0">
                <a:solidFill>
                  <a:schemeClr val="bg1">
                    <a:lumMod val="50000"/>
                  </a:schemeClr>
                </a:solidFill>
              </a:rPr>
              <a:t>Hotels Target in Sharm &amp; Hurgada</a:t>
            </a:r>
          </a:p>
        </p:txBody>
      </p:sp>
      <p:sp>
        <p:nvSpPr>
          <p:cNvPr id="13" name="TextBox 12">
            <a:extLst>
              <a:ext uri="{FF2B5EF4-FFF2-40B4-BE49-F238E27FC236}">
                <a16:creationId xmlns:a16="http://schemas.microsoft.com/office/drawing/2014/main" id="{D0EAC269-D9BC-EF3E-E685-A1DB7E1414F2}"/>
              </a:ext>
            </a:extLst>
          </p:cNvPr>
          <p:cNvSpPr txBox="1"/>
          <p:nvPr/>
        </p:nvSpPr>
        <p:spPr>
          <a:xfrm>
            <a:off x="8546643" y="4214718"/>
            <a:ext cx="3031958" cy="400110"/>
          </a:xfrm>
          <a:prstGeom prst="rect">
            <a:avLst/>
          </a:prstGeom>
          <a:noFill/>
        </p:spPr>
        <p:txBody>
          <a:bodyPr wrap="square" rtlCol="0">
            <a:spAutoFit/>
          </a:bodyPr>
          <a:lstStyle/>
          <a:p>
            <a:pPr algn="r"/>
            <a:r>
              <a:rPr lang="en-US" sz="2000" b="1" dirty="0">
                <a:solidFill>
                  <a:srgbClr val="880002"/>
                </a:solidFill>
                <a:latin typeface="museo-sans"/>
              </a:rPr>
              <a:t>50% Acquisition of Hotels</a:t>
            </a:r>
            <a:endParaRPr lang="en-EG" sz="2000" dirty="0">
              <a:solidFill>
                <a:srgbClr val="880002"/>
              </a:solidFill>
            </a:endParaRPr>
          </a:p>
        </p:txBody>
      </p:sp>
      <p:sp>
        <p:nvSpPr>
          <p:cNvPr id="14" name="TextBox 13">
            <a:extLst>
              <a:ext uri="{FF2B5EF4-FFF2-40B4-BE49-F238E27FC236}">
                <a16:creationId xmlns:a16="http://schemas.microsoft.com/office/drawing/2014/main" id="{E9B85453-2D0B-C5F0-0816-9C27C47BB4E1}"/>
              </a:ext>
            </a:extLst>
          </p:cNvPr>
          <p:cNvSpPr txBox="1"/>
          <p:nvPr/>
        </p:nvSpPr>
        <p:spPr>
          <a:xfrm>
            <a:off x="7796464" y="4614828"/>
            <a:ext cx="2726632" cy="1754326"/>
          </a:xfrm>
          <a:prstGeom prst="rect">
            <a:avLst/>
          </a:prstGeom>
          <a:noFill/>
        </p:spPr>
        <p:txBody>
          <a:bodyPr wrap="square" rtlCol="0">
            <a:spAutoFit/>
          </a:bodyPr>
          <a:lstStyle/>
          <a:p>
            <a:r>
              <a:rPr lang="en-US" b="0" i="0" dirty="0">
                <a:solidFill>
                  <a:srgbClr val="373737"/>
                </a:solidFill>
                <a:effectLst/>
                <a:latin typeface="Montserrat" panose="020F0502020204030204" pitchFamily="34" charset="0"/>
              </a:rPr>
              <a:t>Management Software Market | 4.38% YOY growth in 2020 amid COVID-19 Spread</a:t>
            </a:r>
          </a:p>
          <a:p>
            <a:endParaRPr lang="en-EG" dirty="0"/>
          </a:p>
        </p:txBody>
      </p:sp>
      <p:pic>
        <p:nvPicPr>
          <p:cNvPr id="2" name="Image">
            <a:extLst>
              <a:ext uri="{FF2B5EF4-FFF2-40B4-BE49-F238E27FC236}">
                <a16:creationId xmlns:a16="http://schemas.microsoft.com/office/drawing/2014/main" id="{3A43EA23-0B7C-5224-CC45-A53C2BF1BE67}"/>
              </a:ext>
            </a:extLst>
          </p:cNvPr>
          <p:cNvPicPr>
            <a:picLocks noChangeAspect="1"/>
          </p:cNvPicPr>
          <p:nvPr/>
        </p:nvPicPr>
        <p:blipFill>
          <a:blip r:embed="rId3">
            <a:extLst>
              <a:ext uri="{28A0092B-C50C-407E-A947-70E740481C1C}">
                <a14:useLocalDpi xmlns:a14="http://schemas.microsoft.com/office/drawing/2010/main" val="0"/>
              </a:ext>
            </a:extLst>
          </a:blip>
          <a:srcRect t="1758" b="1758"/>
          <a:stretch/>
        </p:blipFill>
        <p:spPr>
          <a:xfrm>
            <a:off x="11048076" y="5667530"/>
            <a:ext cx="873176" cy="842476"/>
          </a:xfrm>
          <a:prstGeom prst="rect">
            <a:avLst/>
          </a:prstGeom>
          <a:solidFill>
            <a:schemeClr val="tx1"/>
          </a:solidFill>
          <a:ln w="12700" cap="rnd">
            <a:solidFill>
              <a:schemeClr val="accent1">
                <a:alpha val="62000"/>
              </a:schemeClr>
            </a:solidFill>
            <a:bevel/>
          </a:ln>
          <a:effectLst>
            <a:glow rad="260455">
              <a:schemeClr val="accent1">
                <a:alpha val="2204"/>
              </a:schemeClr>
            </a:glow>
            <a:outerShdw blurRad="50800" dist="50800" dir="5400000" algn="ctr" rotWithShape="0">
              <a:srgbClr val="000000"/>
            </a:outerShdw>
          </a:effectLst>
          <a:scene3d>
            <a:camera prst="orthographicFront"/>
            <a:lightRig rig="threePt" dir="t"/>
          </a:scene3d>
          <a:sp3d contourW="12700">
            <a:bevelB w="152400" h="50800" prst="softRound"/>
            <a:contourClr>
              <a:srgbClr val="D9D9D9"/>
            </a:contourClr>
          </a:sp3d>
        </p:spPr>
      </p:pic>
    </p:spTree>
    <p:extLst>
      <p:ext uri="{BB962C8B-B14F-4D97-AF65-F5344CB8AC3E}">
        <p14:creationId xmlns:p14="http://schemas.microsoft.com/office/powerpoint/2010/main" val="12125136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Unable to view the image, Please provide a valid URL.">
            <a:extLst>
              <a:ext uri="{FF2B5EF4-FFF2-40B4-BE49-F238E27FC236}">
                <a16:creationId xmlns:a16="http://schemas.microsoft.com/office/drawing/2014/main" id="{F93B0369-0F72-BAB4-99EF-CD99CCF3DA49}"/>
              </a:ext>
            </a:extLst>
          </p:cNvPr>
          <p:cNvPicPr>
            <a:picLocks noChangeAspect="1" noChangeArrowheads="1"/>
          </p:cNvPicPr>
          <p:nvPr/>
        </p:nvPicPr>
        <p:blipFill>
          <a:blip r:embed="rId2">
            <a:grayscl/>
            <a:alphaModFix/>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C20F72B6-0BE7-8713-5D3B-DFB2E1BE66D3}"/>
              </a:ext>
            </a:extLst>
          </p:cNvPr>
          <p:cNvSpPr/>
          <p:nvPr/>
        </p:nvSpPr>
        <p:spPr>
          <a:xfrm>
            <a:off x="4299284" y="1780674"/>
            <a:ext cx="304800" cy="737937"/>
          </a:xfrm>
          <a:prstGeom prst="rect">
            <a:avLst/>
          </a:prstGeom>
          <a:solidFill>
            <a:srgbClr val="8800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G"/>
          </a:p>
        </p:txBody>
      </p:sp>
      <p:sp>
        <p:nvSpPr>
          <p:cNvPr id="9" name="Rectangle 8">
            <a:extLst>
              <a:ext uri="{FF2B5EF4-FFF2-40B4-BE49-F238E27FC236}">
                <a16:creationId xmlns:a16="http://schemas.microsoft.com/office/drawing/2014/main" id="{05318908-9E4A-6344-F2B2-7E4C4A7AAEE2}"/>
              </a:ext>
            </a:extLst>
          </p:cNvPr>
          <p:cNvSpPr/>
          <p:nvPr/>
        </p:nvSpPr>
        <p:spPr>
          <a:xfrm>
            <a:off x="3922298" y="1836822"/>
            <a:ext cx="304800" cy="681789"/>
          </a:xfrm>
          <a:prstGeom prst="rect">
            <a:avLst/>
          </a:prstGeom>
          <a:solidFill>
            <a:srgbClr val="8800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G"/>
          </a:p>
        </p:txBody>
      </p:sp>
      <p:sp>
        <p:nvSpPr>
          <p:cNvPr id="10" name="Rectangle 9">
            <a:extLst>
              <a:ext uri="{FF2B5EF4-FFF2-40B4-BE49-F238E27FC236}">
                <a16:creationId xmlns:a16="http://schemas.microsoft.com/office/drawing/2014/main" id="{F5E66842-1252-703B-40EF-0CD111DC4984}"/>
              </a:ext>
            </a:extLst>
          </p:cNvPr>
          <p:cNvSpPr/>
          <p:nvPr/>
        </p:nvSpPr>
        <p:spPr>
          <a:xfrm>
            <a:off x="3509221" y="1852864"/>
            <a:ext cx="304801" cy="681789"/>
          </a:xfrm>
          <a:prstGeom prst="rect">
            <a:avLst/>
          </a:prstGeom>
          <a:solidFill>
            <a:srgbClr val="8800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G"/>
          </a:p>
        </p:txBody>
      </p:sp>
      <p:sp>
        <p:nvSpPr>
          <p:cNvPr id="11" name="Rectangle 10">
            <a:extLst>
              <a:ext uri="{FF2B5EF4-FFF2-40B4-BE49-F238E27FC236}">
                <a16:creationId xmlns:a16="http://schemas.microsoft.com/office/drawing/2014/main" id="{01EFB940-7E55-3942-AAEC-F5956A83D516}"/>
              </a:ext>
            </a:extLst>
          </p:cNvPr>
          <p:cNvSpPr/>
          <p:nvPr/>
        </p:nvSpPr>
        <p:spPr>
          <a:xfrm>
            <a:off x="3132233" y="1933074"/>
            <a:ext cx="304801" cy="585537"/>
          </a:xfrm>
          <a:prstGeom prst="rect">
            <a:avLst/>
          </a:prstGeom>
          <a:solidFill>
            <a:srgbClr val="8800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G"/>
          </a:p>
        </p:txBody>
      </p:sp>
      <p:sp>
        <p:nvSpPr>
          <p:cNvPr id="12" name="Rectangle 11">
            <a:extLst>
              <a:ext uri="{FF2B5EF4-FFF2-40B4-BE49-F238E27FC236}">
                <a16:creationId xmlns:a16="http://schemas.microsoft.com/office/drawing/2014/main" id="{4CFC5781-1F06-F9E7-ABBC-5900A4ADC9D2}"/>
              </a:ext>
            </a:extLst>
          </p:cNvPr>
          <p:cNvSpPr/>
          <p:nvPr/>
        </p:nvSpPr>
        <p:spPr>
          <a:xfrm>
            <a:off x="2773294" y="1949116"/>
            <a:ext cx="250663" cy="585537"/>
          </a:xfrm>
          <a:prstGeom prst="rect">
            <a:avLst/>
          </a:prstGeom>
          <a:solidFill>
            <a:srgbClr val="8800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G"/>
          </a:p>
        </p:txBody>
      </p:sp>
      <p:sp>
        <p:nvSpPr>
          <p:cNvPr id="13" name="Rectangle 12">
            <a:extLst>
              <a:ext uri="{FF2B5EF4-FFF2-40B4-BE49-F238E27FC236}">
                <a16:creationId xmlns:a16="http://schemas.microsoft.com/office/drawing/2014/main" id="{1F0A646A-3495-315C-FCE4-AF9C3595BB42}"/>
              </a:ext>
            </a:extLst>
          </p:cNvPr>
          <p:cNvSpPr/>
          <p:nvPr/>
        </p:nvSpPr>
        <p:spPr>
          <a:xfrm rot="5400000">
            <a:off x="9058767" y="1695444"/>
            <a:ext cx="236624" cy="992619"/>
          </a:xfrm>
          <a:prstGeom prst="rect">
            <a:avLst/>
          </a:prstGeom>
          <a:solidFill>
            <a:srgbClr val="8800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G"/>
          </a:p>
        </p:txBody>
      </p:sp>
      <p:sp>
        <p:nvSpPr>
          <p:cNvPr id="14" name="Rectangle 13">
            <a:extLst>
              <a:ext uri="{FF2B5EF4-FFF2-40B4-BE49-F238E27FC236}">
                <a16:creationId xmlns:a16="http://schemas.microsoft.com/office/drawing/2014/main" id="{88610A04-B3BD-5522-1DAB-25EBF3E2BB31}"/>
              </a:ext>
            </a:extLst>
          </p:cNvPr>
          <p:cNvSpPr/>
          <p:nvPr/>
        </p:nvSpPr>
        <p:spPr>
          <a:xfrm rot="5400000">
            <a:off x="9068778" y="2280982"/>
            <a:ext cx="236624" cy="992619"/>
          </a:xfrm>
          <a:prstGeom prst="rect">
            <a:avLst/>
          </a:prstGeom>
          <a:solidFill>
            <a:srgbClr val="8800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G"/>
          </a:p>
        </p:txBody>
      </p:sp>
      <p:sp>
        <p:nvSpPr>
          <p:cNvPr id="15" name="Rectangle 14">
            <a:extLst>
              <a:ext uri="{FF2B5EF4-FFF2-40B4-BE49-F238E27FC236}">
                <a16:creationId xmlns:a16="http://schemas.microsoft.com/office/drawing/2014/main" id="{E6C80364-689D-81D6-54E4-F5E206C6E179}"/>
              </a:ext>
            </a:extLst>
          </p:cNvPr>
          <p:cNvSpPr/>
          <p:nvPr/>
        </p:nvSpPr>
        <p:spPr>
          <a:xfrm rot="5400000">
            <a:off x="9320445" y="2322091"/>
            <a:ext cx="236626" cy="1495956"/>
          </a:xfrm>
          <a:prstGeom prst="rect">
            <a:avLst/>
          </a:prstGeom>
          <a:solidFill>
            <a:srgbClr val="8800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G"/>
          </a:p>
        </p:txBody>
      </p:sp>
      <p:sp>
        <p:nvSpPr>
          <p:cNvPr id="16" name="Rectangle 15">
            <a:extLst>
              <a:ext uri="{FF2B5EF4-FFF2-40B4-BE49-F238E27FC236}">
                <a16:creationId xmlns:a16="http://schemas.microsoft.com/office/drawing/2014/main" id="{E28488F4-9831-3EB4-00F4-38510C7B63B8}"/>
              </a:ext>
            </a:extLst>
          </p:cNvPr>
          <p:cNvSpPr/>
          <p:nvPr/>
        </p:nvSpPr>
        <p:spPr>
          <a:xfrm rot="10800000">
            <a:off x="3072652" y="5661211"/>
            <a:ext cx="171873" cy="524028"/>
          </a:xfrm>
          <a:prstGeom prst="rect">
            <a:avLst/>
          </a:prstGeom>
          <a:solidFill>
            <a:srgbClr val="8800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G"/>
          </a:p>
        </p:txBody>
      </p:sp>
    </p:spTree>
    <p:extLst>
      <p:ext uri="{BB962C8B-B14F-4D97-AF65-F5344CB8AC3E}">
        <p14:creationId xmlns:p14="http://schemas.microsoft.com/office/powerpoint/2010/main" val="25275589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A4ED1D-16AC-41E9-7AD1-299D4C051723}"/>
              </a:ext>
            </a:extLst>
          </p:cNvPr>
          <p:cNvSpPr txBox="1"/>
          <p:nvPr/>
        </p:nvSpPr>
        <p:spPr>
          <a:xfrm>
            <a:off x="0" y="1289572"/>
            <a:ext cx="12192000" cy="769441"/>
          </a:xfrm>
          <a:prstGeom prst="rect">
            <a:avLst/>
          </a:prstGeom>
          <a:noFill/>
        </p:spPr>
        <p:txBody>
          <a:bodyPr wrap="square" rtlCol="0">
            <a:spAutoFit/>
          </a:bodyPr>
          <a:lstStyle/>
          <a:p>
            <a:pPr lvl="1"/>
            <a:r>
              <a:rPr lang="en-US" sz="4400" b="1" dirty="0">
                <a:solidFill>
                  <a:schemeClr val="tx1">
                    <a:lumMod val="65000"/>
                    <a:lumOff val="35000"/>
                  </a:schemeClr>
                </a:solidFill>
                <a:latin typeface="museo-sans"/>
              </a:rPr>
              <a:t>Revenue Model </a:t>
            </a:r>
            <a:endParaRPr lang="en-EG" sz="4400" dirty="0">
              <a:solidFill>
                <a:schemeClr val="tx1">
                  <a:lumMod val="65000"/>
                  <a:lumOff val="35000"/>
                </a:schemeClr>
              </a:solidFill>
            </a:endParaRPr>
          </a:p>
        </p:txBody>
      </p:sp>
      <p:pic>
        <p:nvPicPr>
          <p:cNvPr id="16" name="Picture 15">
            <a:extLst>
              <a:ext uri="{FF2B5EF4-FFF2-40B4-BE49-F238E27FC236}">
                <a16:creationId xmlns:a16="http://schemas.microsoft.com/office/drawing/2014/main" id="{BAB2B25D-EAD5-CCCB-9CC8-B0FDA3C72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2971" y="1275284"/>
            <a:ext cx="5976258" cy="5247809"/>
          </a:xfrm>
          <a:prstGeom prst="rect">
            <a:avLst/>
          </a:prstGeom>
          <a:solidFill>
            <a:schemeClr val="bg2">
              <a:lumMod val="25000"/>
            </a:schemeClr>
          </a:solidFill>
          <a:ln>
            <a:solidFill>
              <a:srgbClr val="880002"/>
            </a:solidFill>
          </a:ln>
          <a:scene3d>
            <a:camera prst="orthographicFront"/>
            <a:lightRig rig="threePt" dir="t">
              <a:rot lat="0" lon="0" rev="1800000"/>
            </a:lightRig>
          </a:scene3d>
          <a:sp3d extrusionH="76200">
            <a:extrusionClr>
              <a:srgbClr val="880002"/>
            </a:extrusionClr>
          </a:sp3d>
        </p:spPr>
      </p:pic>
      <p:pic>
        <p:nvPicPr>
          <p:cNvPr id="20486" name="Picture 6">
            <a:extLst>
              <a:ext uri="{FF2B5EF4-FFF2-40B4-BE49-F238E27FC236}">
                <a16:creationId xmlns:a16="http://schemas.microsoft.com/office/drawing/2014/main" id="{3E440D1A-FA8C-61E8-630E-E7E86C75EF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8971" y="3526403"/>
            <a:ext cx="1393372" cy="735391"/>
          </a:xfrm>
          <a:prstGeom prst="rect">
            <a:avLst/>
          </a:prstGeom>
          <a:solidFill>
            <a:srgbClr val="880002">
              <a:alpha val="7800"/>
            </a:srgbClr>
          </a:solidFill>
          <a:ln>
            <a:solidFill>
              <a:schemeClr val="accent1">
                <a:alpha val="38823"/>
              </a:schemeClr>
            </a:solidFill>
          </a:ln>
        </p:spPr>
      </p:pic>
      <p:sp>
        <p:nvSpPr>
          <p:cNvPr id="20" name="TextBox 19">
            <a:extLst>
              <a:ext uri="{FF2B5EF4-FFF2-40B4-BE49-F238E27FC236}">
                <a16:creationId xmlns:a16="http://schemas.microsoft.com/office/drawing/2014/main" id="{1C9BF8A5-5E21-2BD9-FB8B-DCC31D01AD69}"/>
              </a:ext>
            </a:extLst>
          </p:cNvPr>
          <p:cNvSpPr txBox="1"/>
          <p:nvPr/>
        </p:nvSpPr>
        <p:spPr>
          <a:xfrm>
            <a:off x="402771" y="2192543"/>
            <a:ext cx="5007429" cy="3699474"/>
          </a:xfrm>
          <a:prstGeom prst="rect">
            <a:avLst/>
          </a:prstGeom>
          <a:noFill/>
        </p:spPr>
        <p:txBody>
          <a:bodyPr wrap="square" rtlCol="0">
            <a:spAutoFit/>
          </a:bodyPr>
          <a:lstStyle>
            <a:defPPr>
              <a:defRPr lang="en-US"/>
            </a:defPPr>
            <a:lvl1pPr marL="285750" indent="-285750">
              <a:buFont typeface="Arial" panose="020B0604020202020204" pitchFamily="34" charset="0"/>
              <a:buChar char="•"/>
              <a:defRPr sz="2000">
                <a:solidFill>
                  <a:schemeClr val="tx1">
                    <a:lumMod val="50000"/>
                    <a:lumOff val="50000"/>
                  </a:schemeClr>
                </a:solidFill>
              </a:defRPr>
            </a:lvl1pPr>
          </a:lstStyle>
          <a:p>
            <a:pPr>
              <a:lnSpc>
                <a:spcPct val="200000"/>
              </a:lnSpc>
            </a:pPr>
            <a:r>
              <a:rPr lang="en-EG" dirty="0"/>
              <a:t>Financing Commision for Hotels</a:t>
            </a:r>
          </a:p>
          <a:p>
            <a:pPr>
              <a:lnSpc>
                <a:spcPct val="200000"/>
              </a:lnSpc>
            </a:pPr>
            <a:r>
              <a:rPr lang="en-EG" dirty="0"/>
              <a:t>Subscription Model for Suppliers</a:t>
            </a:r>
          </a:p>
          <a:p>
            <a:pPr>
              <a:lnSpc>
                <a:spcPct val="200000"/>
              </a:lnSpc>
            </a:pPr>
            <a:r>
              <a:rPr lang="en-EG" dirty="0"/>
              <a:t>Ads Scheme </a:t>
            </a:r>
          </a:p>
          <a:p>
            <a:pPr>
              <a:lnSpc>
                <a:spcPct val="200000"/>
              </a:lnSpc>
            </a:pPr>
            <a:r>
              <a:rPr lang="en-EG" dirty="0"/>
              <a:t>Boosting Product Listing</a:t>
            </a:r>
          </a:p>
          <a:p>
            <a:pPr>
              <a:lnSpc>
                <a:spcPct val="200000"/>
              </a:lnSpc>
            </a:pPr>
            <a:r>
              <a:rPr lang="en-EG" dirty="0"/>
              <a:t>Added Value Services</a:t>
            </a:r>
          </a:p>
          <a:p>
            <a:pPr>
              <a:lnSpc>
                <a:spcPct val="200000"/>
              </a:lnSpc>
            </a:pPr>
            <a:r>
              <a:rPr lang="en-EG" dirty="0"/>
              <a:t>Outsourcing Procurement</a:t>
            </a:r>
          </a:p>
        </p:txBody>
      </p:sp>
    </p:spTree>
    <p:extLst>
      <p:ext uri="{BB962C8B-B14F-4D97-AF65-F5344CB8AC3E}">
        <p14:creationId xmlns:p14="http://schemas.microsoft.com/office/powerpoint/2010/main" val="14918129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Jobs and Careers at Orascom Hotel Management, Egypt | WUZZUF">
            <a:extLst>
              <a:ext uri="{FF2B5EF4-FFF2-40B4-BE49-F238E27FC236}">
                <a16:creationId xmlns:a16="http://schemas.microsoft.com/office/drawing/2014/main" id="{A0B1372A-47FC-F674-3A20-1A89B466866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40069" y="1253331"/>
            <a:ext cx="8311861"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D29B05C-1056-C446-195E-0F1D8E9FE5FC}"/>
              </a:ext>
            </a:extLst>
          </p:cNvPr>
          <p:cNvSpPr txBox="1"/>
          <p:nvPr/>
        </p:nvSpPr>
        <p:spPr>
          <a:xfrm>
            <a:off x="-1" y="4958338"/>
            <a:ext cx="12192000" cy="646331"/>
          </a:xfrm>
          <a:prstGeom prst="rect">
            <a:avLst/>
          </a:prstGeom>
          <a:noFill/>
        </p:spPr>
        <p:txBody>
          <a:bodyPr wrap="square" rtlCol="0">
            <a:spAutoFit/>
          </a:bodyPr>
          <a:lstStyle/>
          <a:p>
            <a:pPr lvl="1" algn="ctr"/>
            <a:r>
              <a:rPr lang="en-US" sz="3600" b="1" dirty="0">
                <a:solidFill>
                  <a:schemeClr val="bg1">
                    <a:lumMod val="50000"/>
                  </a:schemeClr>
                </a:solidFill>
                <a:latin typeface="museo-sans"/>
              </a:rPr>
              <a:t>How can we collaborate?</a:t>
            </a:r>
            <a:endParaRPr lang="en-EG" sz="3600" dirty="0">
              <a:solidFill>
                <a:schemeClr val="bg1">
                  <a:lumMod val="50000"/>
                </a:schemeClr>
              </a:solidFill>
            </a:endParaRPr>
          </a:p>
        </p:txBody>
      </p:sp>
    </p:spTree>
    <p:extLst>
      <p:ext uri="{BB962C8B-B14F-4D97-AF65-F5344CB8AC3E}">
        <p14:creationId xmlns:p14="http://schemas.microsoft.com/office/powerpoint/2010/main" val="34847527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24464</TotalTime>
  <Words>1140</Words>
  <Application>Microsoft Macintosh PowerPoint</Application>
  <PresentationFormat>Widescreen</PresentationFormat>
  <Paragraphs>114</Paragraphs>
  <Slides>13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vt:lpstr>
      <vt:lpstr>Calibri</vt:lpstr>
      <vt:lpstr>Calibri Light</vt:lpstr>
      <vt:lpstr>Goudy Old Style</vt:lpstr>
      <vt:lpstr>Hoefler Text</vt:lpstr>
      <vt:lpstr>Microsoft Sans Serif</vt:lpstr>
      <vt:lpstr>Montserrat</vt:lpstr>
      <vt:lpstr>museo-sans</vt:lpstr>
      <vt:lpstr>Söhne</vt:lpstr>
      <vt:lpstr>Office Theme</vt:lpstr>
      <vt:lpstr>PRESENTATION</vt:lpstr>
      <vt:lpstr>PowerPoint Presentation</vt:lpstr>
      <vt:lpstr>PowerPoint Presentation</vt:lpstr>
      <vt:lpstr>Index</vt:lpstr>
      <vt:lpstr>The Pains   common issues faced by hotels in the procurement process include:</vt:lpstr>
      <vt:lpstr>PowerPoint Presentation</vt:lpstr>
      <vt:lpstr>Hotels Vendors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safaa yassin</dc:creator>
  <cp:lastModifiedBy>Microsoft Office User</cp:lastModifiedBy>
  <cp:revision>12</cp:revision>
  <dcterms:created xsi:type="dcterms:W3CDTF">2022-12-13T20:16:25Z</dcterms:created>
  <dcterms:modified xsi:type="dcterms:W3CDTF">2023-01-26T00:04:10Z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2022-12-13T21:15:39Z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0922162a-1c88-46c7-b958-6d8f44b8f6ff</vt:lpwstr>
  </property>
  <property fmtid="{D5CDD505-2E9C-101B-9397-08002B2CF9AE}" pid="7" name="MSIP_Label_defa4170-0d19-0005-0004-bc88714345d2_ActionId">
    <vt:lpwstr>8e0968eb-5240-4bdc-a399-6f3531845a49</vt:lpwstr>
  </property>
  <property fmtid="{D5CDD505-2E9C-101B-9397-08002B2CF9AE}" pid="8" name="MSIP_Label_defa4170-0d19-0005-0004-bc88714345d2_ContentBits">
    <vt:lpwstr>0</vt:lpwstr>
  </property>
</Properties>
</file>